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excited to present "Volt Market," an e-commerce website project developed as part of my graduation requirements. This project focuses on delivering a modern, responsive, and feature-rich shopping experience using cutting-edge web technologies. We'll explore how Volt Market addresses common challenges in online retail, offering a seamless and intuitive platform for users. Let's dive into the project's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Volt Market isn't just another shopping site; it's a solution tailored for the modern consumer. Our primary goal was to create a platform that feels natural to use, whether you're on a desktop or a mobile device, ensuring that the journey from discovery to purchase is as smooth as possible. We aimed for high-speed product discovery, a seamless checkout, and a mobile-first design. This focus on user experience and performance sets Volt Market apart. Now, let's consider the problems Volt Market was designed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shopping has its limits, and even many existing online platforms struggle with user retention due to poor performance. Volt Market addresses these issues by offering a lightning-fast interface and an AI-driven chatbot that assists users in finding exactly what they need without manual filtering. We provide 24/7 accessibility and instant search, overcoming the limitations of physical stores and inefficient digital experiences. This approach ensures a superior shopping journey. So, how did we achieve this? Let's look at the core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packed Volt Market with all the essential features of a top-tier e-commerce site. Beyond the standard cart and checkout, we've implemented a Wishlist for future purchases and a smart ChatBot that can suggest products based on user queries, significantly enhancing the user experience. These features, from secure user management to dynamic shopping tools, were designed to create a comprehensive and intuitive platform. Now, let's explore the technical foundation that makes these features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technical stack was chosen for its scalability and performance. React.js allows for a smooth, single-page application experience. We used the Context API to manage complex states like the shopping cart across the entire application without the overhead of heavier libraries. This combination of modern technologies ensures a robust and efficient platform. Next, we'll examine how these technologies come together in our system's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architecture employs a modern decoupled approach, ensuring both scalability and maintainability. The frontend, a React-based single-page application, communicates with a RESTful API. This separation allows us to update or scale either side independently without impacting the other. The data flow is optimized for instant user feedback, making the shopping experience feel incredibly responsive. This robust architecture underpins the seamless user experience we'll discuss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our solid architecture, the user interface and experience design were paramount for Volt Market. We chose a professional green and white palette to convey trust and cleanliness, focusing on minimalist design principles. This approach reduces cognitive load and ensures users can navigate intuitively, reaching any product within three clicks. Every element is optimized for responsiveness, guaranteeing a consistent, high-quality experience across all devices. Now, let's explore how these design principles manifest on our key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key page in Volt Market is meticulously designed with a specific user goal in mind. The Home and Products pages serve as dynamic hubs for discovery, featuring real-time search and category sliders. The Product Details page offers a comprehensive view with high-resolution images and specifications, providing all the information needed for an informed decision. The Cart and Wishlist pages streamline item management, while our secure checkout ensures a smooth, multi-step payment process. These pages are crucial, but development wasn't without its hurdles.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Developing Volt Market presented several technical challenges, particularly in managing complex global states like the shopping cart and user authentication. We addressed this by implementing the React Context API, establishing a single source of truth for consistent data across the application. Handling asynchronous API calls and ensuring consistent UI across browsers were also critical. We tackled these with Axios for robust networking and by leveraging Bootstrap's grid system and CSS media queries. These solutions were vital in delivering a high-performing and reliable platform. With these challenges overcome, we can now look to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Volt Market stands as a robust, responsive, and user-friendly e-commerce solution, successfully demonstrating the power of modern web technologies. We achieved our core goals of high performance, mobile responsiveness, and seamless data integration. Looking ahead, our roadmap includes integrating online payment gateways like Stripe or PayPal and developing a comprehensive admin dashboard. We also plan to enhance the AI with advanced recommendation engines and implement real-time order tracking. Thank you for your time; I'm now ready for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e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748558" y="1275438"/>
            <a:ext cx="3646884" cy="800100"/>
          </a:xfrm>
          <a:prstGeom prst="rect">
            <a:avLst/>
          </a:prstGeom>
          <a:noFill/>
          <a:ln/>
        </p:spPr>
        <p:txBody>
          <a:bodyPr wrap="square" lIns="0" tIns="0" rIns="0" bIns="0" rtlCol="0" anchor="t">
            <a:spAutoFit/>
          </a:bodyPr>
          <a:lstStyle/>
          <a:p>
            <a:pPr algn="ctr" indent="0" marL="0">
              <a:buNone/>
            </a:pPr>
            <a:r>
              <a:rPr lang="en-US" sz="4350" b="1" spc="-1" kern="0" dirty="0">
                <a:solidFill>
                  <a:srgbClr val="064E3B"/>
                </a:solidFill>
                <a:latin typeface="Playfair Display Bold" pitchFamily="34" charset="0"/>
                <a:ea typeface="Playfair Display Bold" pitchFamily="34" charset="-122"/>
                <a:cs typeface="Playfair Display Bold" pitchFamily="34" charset="-120"/>
              </a:rPr>
              <a:t>Volt Market</a:t>
            </a:r>
            <a:endParaRPr lang="en-US" sz="4350" dirty="0"/>
          </a:p>
        </p:txBody>
      </p:sp>
      <p:sp>
        <p:nvSpPr>
          <p:cNvPr id="5" name="Text 1"/>
          <p:cNvSpPr/>
          <p:nvPr/>
        </p:nvSpPr>
        <p:spPr>
          <a:xfrm>
            <a:off x="2748558" y="2111257"/>
            <a:ext cx="3646884" cy="242888"/>
          </a:xfrm>
          <a:prstGeom prst="rect">
            <a:avLst/>
          </a:prstGeom>
          <a:noFill/>
          <a:ln/>
        </p:spPr>
        <p:txBody>
          <a:bodyPr wrap="square" lIns="0" tIns="0" rIns="0" bIns="0" rtlCol="0" anchor="t">
            <a:spAutoFit/>
          </a:bodyPr>
          <a:lstStyle/>
          <a:p>
            <a:pPr algn="ctr" indent="0" marL="0">
              <a:buNone/>
            </a:pPr>
            <a:r>
              <a:rPr lang="en-US" sz="1500" spc="2" kern="0" dirty="0">
                <a:solidFill>
                  <a:srgbClr val="064E3B"/>
                </a:solidFill>
                <a:latin typeface="Inter Light" pitchFamily="34" charset="0"/>
                <a:ea typeface="Inter Light" pitchFamily="34" charset="-122"/>
                <a:cs typeface="Inter Light" pitchFamily="34" charset="-120"/>
              </a:rPr>
              <a:t>E-COMMERCE WEBSITE PROJECT</a:t>
            </a:r>
            <a:endParaRPr lang="en-US" sz="1500" dirty="0"/>
          </a:p>
        </p:txBody>
      </p:sp>
      <p:sp>
        <p:nvSpPr>
          <p:cNvPr id="6" name="Text 2"/>
          <p:cNvSpPr/>
          <p:nvPr/>
        </p:nvSpPr>
        <p:spPr>
          <a:xfrm>
            <a:off x="2748558" y="2639895"/>
            <a:ext cx="3646884" cy="180017"/>
          </a:xfrm>
          <a:prstGeom prst="rect">
            <a:avLst/>
          </a:prstGeom>
          <a:noFill/>
          <a:ln/>
        </p:spPr>
        <p:txBody>
          <a:bodyPr wrap="none" lIns="0" tIns="0" rIns="0" bIns="0" rtlCol="0" anchor="t">
            <a:spAutoFit/>
          </a:bodyPr>
          <a:lstStyle/>
          <a:p>
            <a:pPr algn="ctr" indent="0" marL="0">
              <a:lnSpc>
                <a:spcPct val="112000"/>
              </a:lnSpc>
              <a:buNone/>
            </a:pPr>
            <a:r>
              <a:rPr lang="en-US" sz="900" dirty="0">
                <a:solidFill>
                  <a:srgbClr val="064E3B"/>
                </a:solidFill>
                <a:latin typeface="Inter" pitchFamily="34" charset="0"/>
                <a:ea typeface="Inter" pitchFamily="34" charset="-122"/>
                <a:cs typeface="Inter" pitchFamily="34" charset="-120"/>
              </a:rPr>
              <a:t>Presented by:</a:t>
            </a:r>
            <a:endParaRPr lang="en-US" sz="900" dirty="0"/>
          </a:p>
        </p:txBody>
      </p:sp>
      <p:sp>
        <p:nvSpPr>
          <p:cNvPr id="7" name="Text 3"/>
          <p:cNvSpPr/>
          <p:nvPr/>
        </p:nvSpPr>
        <p:spPr>
          <a:xfrm>
            <a:off x="2748558" y="2891349"/>
            <a:ext cx="3646884" cy="540051"/>
          </a:xfrm>
          <a:prstGeom prst="rect">
            <a:avLst/>
          </a:prstGeom>
          <a:noFill/>
          <a:ln/>
        </p:spPr>
        <p:txBody>
          <a:bodyPr wrap="square" lIns="0" tIns="0" rIns="0" bIns="0" rtlCol="0" anchor="t">
            <a:spAutoFit/>
          </a:bodyPr>
          <a:lstStyle/>
          <a:p>
            <a:pPr algn="ctr" indent="0" marL="0">
              <a:lnSpc>
                <a:spcPct val="112000"/>
              </a:lnSpc>
              <a:buNone/>
            </a:pPr>
            <a:r>
              <a:rPr lang="en-US" sz="950" dirty="0">
                <a:solidFill>
                  <a:srgbClr val="064E3B"/>
                </a:solidFill>
                <a:latin typeface="Inter" pitchFamily="34" charset="0"/>
                <a:ea typeface="Inter" pitchFamily="34" charset="-122"/>
                <a:cs typeface="Inter" pitchFamily="34" charset="-120"/>
              </a:rPr>
              <a:t>Anwar Khaled Abotaleb • Ahmed AbdElghafar Hammad</a:t>
            </a:r>
            <a:r>
              <a:rPr lang="en-US" sz="950" dirty="0">
                <a:solidFill>
                  <a:srgbClr val="064E3B"/>
                </a:solidFill>
                <a:latin typeface="Inter" pitchFamily="34" charset="0"/>
                <a:ea typeface="Inter" pitchFamily="34" charset="-122"/>
                <a:cs typeface="Inter" pitchFamily="34" charset="-120"/>
              </a:rPr>
              <a:t>
</a:t>
            </a:r>
            <a:r>
              <a:rPr lang="en-US" sz="950" dirty="0">
                <a:solidFill>
                  <a:srgbClr val="064E3B"/>
                </a:solidFill>
                <a:latin typeface="Inter" pitchFamily="34" charset="0"/>
                <a:ea typeface="Inter" pitchFamily="34" charset="-122"/>
                <a:cs typeface="Inter" pitchFamily="34" charset="-120"/>
              </a:rPr>
              <a:t>Hussein Khaled Elsharkawy • Mahmoud Abdallah Arnous</a:t>
            </a:r>
            <a:r>
              <a:rPr lang="en-US" sz="950" dirty="0">
                <a:solidFill>
                  <a:srgbClr val="064E3B"/>
                </a:solidFill>
                <a:latin typeface="Inter" pitchFamily="34" charset="0"/>
                <a:ea typeface="Inter" pitchFamily="34" charset="-122"/>
                <a:cs typeface="Inter" pitchFamily="34" charset="-120"/>
              </a:rPr>
              <a:t>
</a:t>
            </a:r>
            <a:r>
              <a:rPr lang="en-US" sz="950" dirty="0">
                <a:solidFill>
                  <a:srgbClr val="064E3B"/>
                </a:solidFill>
                <a:latin typeface="Inter" pitchFamily="34" charset="0"/>
                <a:ea typeface="Inter" pitchFamily="34" charset="-122"/>
                <a:cs typeface="Inter" pitchFamily="34" charset="-120"/>
              </a:rPr>
              <a:t>Habiba Ramadan Elsayed</a:t>
            </a:r>
            <a:endParaRPr lang="en-US" sz="950" dirty="0"/>
          </a:p>
        </p:txBody>
      </p:sp>
      <p:sp>
        <p:nvSpPr>
          <p:cNvPr id="8" name="Text 4"/>
          <p:cNvSpPr/>
          <p:nvPr/>
        </p:nvSpPr>
        <p:spPr>
          <a:xfrm>
            <a:off x="2748558" y="3574275"/>
            <a:ext cx="3646884" cy="160009"/>
          </a:xfrm>
          <a:prstGeom prst="rect">
            <a:avLst/>
          </a:prstGeom>
          <a:noFill/>
          <a:ln/>
        </p:spPr>
        <p:txBody>
          <a:bodyPr wrap="none" lIns="0" tIns="0" rIns="0" bIns="0" rtlCol="0" anchor="t">
            <a:spAutoFit/>
          </a:bodyPr>
          <a:lstStyle/>
          <a:p>
            <a:pPr algn="ctr" indent="0" marL="0">
              <a:lnSpc>
                <a:spcPct val="112000"/>
              </a:lnSpc>
              <a:buNone/>
            </a:pPr>
            <a:r>
              <a:rPr lang="en-US" sz="850" dirty="0">
                <a:solidFill>
                  <a:srgbClr val="475569"/>
                </a:solidFill>
                <a:latin typeface="Inter" pitchFamily="34" charset="0"/>
                <a:ea typeface="Inter" pitchFamily="34" charset="-122"/>
                <a:cs typeface="Inter" pitchFamily="34" charset="-120"/>
              </a:rPr>
              <a:t>June 2026</a:t>
            </a:r>
            <a:endParaRPr lang="en-US" sz="850" dirty="0"/>
          </a:p>
        </p:txBody>
      </p:sp>
      <p:pic>
        <p:nvPicPr>
          <p:cNvPr id="9" name="Image 1" descr="preencoded.png">    </p:cNvPr>
          <p:cNvPicPr>
            <a:picLocks noChangeAspect="1"/>
          </p:cNvPicPr>
          <p:nvPr/>
        </p:nvPicPr>
        <p:blipFill>
          <a:blip r:embed="rId2"/>
          <a:stretch>
            <a:fillRect/>
          </a:stretch>
        </p:blipFill>
        <p:spPr>
          <a:xfrm>
            <a:off x="4063008" y="3964670"/>
            <a:ext cx="192881" cy="171450"/>
          </a:xfrm>
          <a:prstGeom prst="rect">
            <a:avLst/>
          </a:prstGeom>
        </p:spPr>
      </p:pic>
      <p:pic>
        <p:nvPicPr>
          <p:cNvPr id="10" name="Image 2" descr="preencoded.png">    </p:cNvPr>
          <p:cNvPicPr>
            <a:picLocks noChangeAspect="1"/>
          </p:cNvPicPr>
          <p:nvPr/>
        </p:nvPicPr>
        <p:blipFill>
          <a:blip r:embed="rId3"/>
          <a:stretch>
            <a:fillRect/>
          </a:stretch>
        </p:blipFill>
        <p:spPr>
          <a:xfrm>
            <a:off x="4518422" y="3964670"/>
            <a:ext cx="128588" cy="171450"/>
          </a:xfrm>
          <a:prstGeom prst="rect">
            <a:avLst/>
          </a:prstGeom>
        </p:spPr>
      </p:pic>
      <p:pic>
        <p:nvPicPr>
          <p:cNvPr id="11" name="Image 3" descr="preencoded.png">    </p:cNvPr>
          <p:cNvPicPr>
            <a:picLocks noChangeAspect="1"/>
          </p:cNvPicPr>
          <p:nvPr/>
        </p:nvPicPr>
        <p:blipFill>
          <a:blip r:embed="rId4"/>
          <a:stretch>
            <a:fillRect/>
          </a:stretch>
        </p:blipFill>
        <p:spPr>
          <a:xfrm>
            <a:off x="4909542" y="3964670"/>
            <a:ext cx="171450" cy="171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28625"/>
            <a:ext cx="8715375" cy="457200"/>
          </a:xfrm>
          <a:prstGeom prst="rect">
            <a:avLst/>
          </a:prstGeom>
          <a:noFill/>
          <a:ln/>
        </p:spPr>
        <p:txBody>
          <a:bodyPr wrap="square" lIns="0" tIns="0" rIns="0" bIns="0" rtlCol="0" anchor="t">
            <a:spAutoFit/>
          </a:bodyPr>
          <a:lstStyle/>
          <a:p>
            <a:pPr algn="l" indent="0" marL="0">
              <a:buNone/>
            </a:pPr>
            <a:r>
              <a:rPr lang="en-US" sz="2450" b="1" dirty="0">
                <a:solidFill>
                  <a:srgbClr val="064E3B"/>
                </a:solidFill>
                <a:latin typeface="Playfair Display Bold" pitchFamily="34" charset="0"/>
                <a:ea typeface="Playfair Display Bold" pitchFamily="34" charset="-122"/>
                <a:cs typeface="Playfair Display Bold" pitchFamily="34" charset="-120"/>
              </a:rPr>
              <a:t>Project Overview</a:t>
            </a:r>
            <a:endParaRPr lang="en-US" sz="2450" dirty="0"/>
          </a:p>
        </p:txBody>
      </p:sp>
      <p:pic>
        <p:nvPicPr>
          <p:cNvPr id="5" name="Image 1" descr="preencoded.png">    </p:cNvPr>
          <p:cNvPicPr>
            <a:picLocks noChangeAspect="1"/>
          </p:cNvPicPr>
          <p:nvPr/>
        </p:nvPicPr>
        <p:blipFill>
          <a:blip r:embed="rId2"/>
          <a:stretch>
            <a:fillRect/>
          </a:stretch>
        </p:blipFill>
        <p:spPr>
          <a:xfrm>
            <a:off x="428625" y="1060847"/>
            <a:ext cx="142875" cy="142875"/>
          </a:xfrm>
          <a:prstGeom prst="rect">
            <a:avLst/>
          </a:prstGeom>
        </p:spPr>
      </p:pic>
      <p:sp>
        <p:nvSpPr>
          <p:cNvPr id="6" name="Text 1"/>
          <p:cNvSpPr/>
          <p:nvPr/>
        </p:nvSpPr>
        <p:spPr>
          <a:xfrm>
            <a:off x="657225" y="1028700"/>
            <a:ext cx="975122" cy="207169"/>
          </a:xfrm>
          <a:prstGeom prst="rect">
            <a:avLst/>
          </a:prstGeom>
          <a:noFill/>
          <a:ln/>
        </p:spPr>
        <p:txBody>
          <a:bodyPr wrap="none" lIns="0" tIns="0" rIns="0" bIns="0" rtlCol="0" anchor="t">
            <a:spAutoFit/>
          </a:bodyPr>
          <a:lstStyle/>
          <a:p>
            <a:pPr algn="l" indent="0" marL="0">
              <a:buNone/>
            </a:pPr>
            <a:r>
              <a:rPr lang="en-US" sz="1200" dirty="0">
                <a:solidFill>
                  <a:srgbClr val="064E3B"/>
                </a:solidFill>
                <a:latin typeface="Inter" pitchFamily="34" charset="0"/>
                <a:ea typeface="Inter" pitchFamily="34" charset="-122"/>
                <a:cs typeface="Inter" pitchFamily="34" charset="-120"/>
              </a:rPr>
              <a:t>Introduction</a:t>
            </a:r>
            <a:endParaRPr lang="en-US" sz="1200" dirty="0"/>
          </a:p>
        </p:txBody>
      </p:sp>
      <p:sp>
        <p:nvSpPr>
          <p:cNvPr id="7" name="Text 2"/>
          <p:cNvSpPr/>
          <p:nvPr/>
        </p:nvSpPr>
        <p:spPr>
          <a:xfrm>
            <a:off x="428625" y="1364456"/>
            <a:ext cx="4000500" cy="559305"/>
          </a:xfrm>
          <a:prstGeom prst="rect">
            <a:avLst/>
          </a:prstGeom>
          <a:noFill/>
          <a:ln/>
        </p:spPr>
        <p:txBody>
          <a:bodyPr wrap="square" lIns="0" tIns="0" rIns="0" bIns="0" rtlCol="0" anchor="t">
            <a:spAutoFit/>
          </a:bodyPr>
          <a:lstStyle/>
          <a:p>
            <a:pPr algn="l" indent="0" marL="0">
              <a:lnSpc>
                <a:spcPct val="116000"/>
              </a:lnSpc>
              <a:buNone/>
            </a:pPr>
            <a:r>
              <a:rPr lang="en-US" sz="950" dirty="0">
                <a:solidFill>
                  <a:srgbClr val="475569"/>
                </a:solidFill>
                <a:latin typeface="Inter" pitchFamily="34" charset="0"/>
                <a:ea typeface="Inter" pitchFamily="34" charset="-122"/>
                <a:cs typeface="Inter" pitchFamily="34" charset="-120"/>
              </a:rPr>
              <a:t>Volt Market is a high-performance e-commerce platform delivering a seamless shopping experience that blends fast discovery with user-centric design.</a:t>
            </a:r>
            <a:endParaRPr lang="en-US" sz="950" dirty="0"/>
          </a:p>
        </p:txBody>
      </p:sp>
      <p:pic>
        <p:nvPicPr>
          <p:cNvPr id="8" name="Image 2" descr="preencoded.png">    </p:cNvPr>
          <p:cNvPicPr>
            <a:picLocks noChangeAspect="1"/>
          </p:cNvPicPr>
          <p:nvPr/>
        </p:nvPicPr>
        <p:blipFill>
          <a:blip r:embed="rId3"/>
          <a:stretch>
            <a:fillRect/>
          </a:stretch>
        </p:blipFill>
        <p:spPr>
          <a:xfrm>
            <a:off x="428625" y="2070209"/>
            <a:ext cx="142875" cy="142875"/>
          </a:xfrm>
          <a:prstGeom prst="rect">
            <a:avLst/>
          </a:prstGeom>
        </p:spPr>
      </p:pic>
      <p:sp>
        <p:nvSpPr>
          <p:cNvPr id="9" name="Text 3"/>
          <p:cNvSpPr/>
          <p:nvPr/>
        </p:nvSpPr>
        <p:spPr>
          <a:xfrm>
            <a:off x="657225" y="2038062"/>
            <a:ext cx="678656" cy="207169"/>
          </a:xfrm>
          <a:prstGeom prst="rect">
            <a:avLst/>
          </a:prstGeom>
          <a:noFill/>
          <a:ln/>
        </p:spPr>
        <p:txBody>
          <a:bodyPr wrap="none" lIns="0" tIns="0" rIns="0" bIns="0" rtlCol="0" anchor="t">
            <a:spAutoFit/>
          </a:bodyPr>
          <a:lstStyle/>
          <a:p>
            <a:pPr algn="l" indent="0" marL="0">
              <a:buNone/>
            </a:pPr>
            <a:r>
              <a:rPr lang="en-US" sz="1200" dirty="0">
                <a:solidFill>
                  <a:srgbClr val="064E3B"/>
                </a:solidFill>
                <a:latin typeface="Inter" pitchFamily="34" charset="0"/>
                <a:ea typeface="Inter" pitchFamily="34" charset="-122"/>
                <a:cs typeface="Inter" pitchFamily="34" charset="-120"/>
              </a:rPr>
              <a:t>Purpose</a:t>
            </a:r>
            <a:endParaRPr lang="en-US" sz="1200" dirty="0"/>
          </a:p>
        </p:txBody>
      </p:sp>
      <p:sp>
        <p:nvSpPr>
          <p:cNvPr id="10" name="Text 4"/>
          <p:cNvSpPr/>
          <p:nvPr/>
        </p:nvSpPr>
        <p:spPr>
          <a:xfrm>
            <a:off x="428625" y="2373818"/>
            <a:ext cx="4000500" cy="372870"/>
          </a:xfrm>
          <a:prstGeom prst="rect">
            <a:avLst/>
          </a:prstGeom>
          <a:noFill/>
          <a:ln/>
        </p:spPr>
        <p:txBody>
          <a:bodyPr wrap="square" lIns="0" tIns="0" rIns="0" bIns="0" rtlCol="0" anchor="t">
            <a:spAutoFit/>
          </a:bodyPr>
          <a:lstStyle/>
          <a:p>
            <a:pPr algn="l" indent="0" marL="0">
              <a:lnSpc>
                <a:spcPct val="116000"/>
              </a:lnSpc>
              <a:buNone/>
            </a:pPr>
            <a:r>
              <a:rPr lang="en-US" sz="950" dirty="0">
                <a:solidFill>
                  <a:srgbClr val="475569"/>
                </a:solidFill>
                <a:latin typeface="Inter" pitchFamily="34" charset="0"/>
                <a:ea typeface="Inter" pitchFamily="34" charset="-122"/>
                <a:cs typeface="Inter" pitchFamily="34" charset="-120"/>
              </a:rPr>
              <a:t>We simplify online purchasing via an intuitive interface, quick product discovery, and secure transaction flows.</a:t>
            </a:r>
            <a:endParaRPr lang="en-US" sz="950" dirty="0"/>
          </a:p>
        </p:txBody>
      </p:sp>
      <p:pic>
        <p:nvPicPr>
          <p:cNvPr id="11" name="Image 3" descr="preencoded.png">    </p:cNvPr>
          <p:cNvPicPr>
            <a:picLocks noChangeAspect="1"/>
          </p:cNvPicPr>
          <p:nvPr/>
        </p:nvPicPr>
        <p:blipFill>
          <a:blip r:embed="rId4"/>
          <a:stretch>
            <a:fillRect/>
          </a:stretch>
        </p:blipFill>
        <p:spPr>
          <a:xfrm>
            <a:off x="428625" y="2893135"/>
            <a:ext cx="178594" cy="142875"/>
          </a:xfrm>
          <a:prstGeom prst="rect">
            <a:avLst/>
          </a:prstGeom>
        </p:spPr>
      </p:pic>
      <p:sp>
        <p:nvSpPr>
          <p:cNvPr id="12" name="Text 5"/>
          <p:cNvSpPr/>
          <p:nvPr/>
        </p:nvSpPr>
        <p:spPr>
          <a:xfrm>
            <a:off x="692944" y="2860988"/>
            <a:ext cx="1330523" cy="207169"/>
          </a:xfrm>
          <a:prstGeom prst="rect">
            <a:avLst/>
          </a:prstGeom>
          <a:noFill/>
          <a:ln/>
        </p:spPr>
        <p:txBody>
          <a:bodyPr wrap="square" lIns="0" tIns="0" rIns="0" bIns="0" rtlCol="0" anchor="t">
            <a:spAutoFit/>
          </a:bodyPr>
          <a:lstStyle/>
          <a:p>
            <a:pPr algn="l" indent="0" marL="0">
              <a:buNone/>
            </a:pPr>
            <a:r>
              <a:rPr lang="en-US" sz="1200" dirty="0">
                <a:solidFill>
                  <a:srgbClr val="064E3B"/>
                </a:solidFill>
                <a:latin typeface="Inter" pitchFamily="34" charset="0"/>
                <a:ea typeface="Inter" pitchFamily="34" charset="-122"/>
                <a:cs typeface="Inter" pitchFamily="34" charset="-120"/>
              </a:rPr>
              <a:t>Target Audience</a:t>
            </a:r>
            <a:endParaRPr lang="en-US" sz="1200" dirty="0"/>
          </a:p>
        </p:txBody>
      </p:sp>
      <p:sp>
        <p:nvSpPr>
          <p:cNvPr id="13" name="Text 6"/>
          <p:cNvSpPr/>
          <p:nvPr/>
        </p:nvSpPr>
        <p:spPr>
          <a:xfrm>
            <a:off x="428625" y="3196744"/>
            <a:ext cx="4000500" cy="372870"/>
          </a:xfrm>
          <a:prstGeom prst="rect">
            <a:avLst/>
          </a:prstGeom>
          <a:noFill/>
          <a:ln/>
        </p:spPr>
        <p:txBody>
          <a:bodyPr wrap="square" lIns="0" tIns="0" rIns="0" bIns="0" rtlCol="0" anchor="t">
            <a:spAutoFit/>
          </a:bodyPr>
          <a:lstStyle/>
          <a:p>
            <a:pPr algn="l" indent="0" marL="0">
              <a:lnSpc>
                <a:spcPct val="116000"/>
              </a:lnSpc>
              <a:buNone/>
            </a:pPr>
            <a:r>
              <a:rPr lang="en-US" sz="950" dirty="0">
                <a:solidFill>
                  <a:srgbClr val="475569"/>
                </a:solidFill>
                <a:latin typeface="Inter" pitchFamily="34" charset="0"/>
                <a:ea typeface="Inter" pitchFamily="34" charset="-122"/>
                <a:cs typeface="Inter" pitchFamily="34" charset="-120"/>
              </a:rPr>
              <a:t>For modern, tech-savvy shoppers who value speed, reliability, and ease in their digital buying journeys.</a:t>
            </a:r>
            <a:endParaRPr lang="en-US" sz="950" dirty="0"/>
          </a:p>
        </p:txBody>
      </p:sp>
      <p:sp>
        <p:nvSpPr>
          <p:cNvPr id="14" name="Shape 7"/>
          <p:cNvSpPr/>
          <p:nvPr/>
        </p:nvSpPr>
        <p:spPr>
          <a:xfrm>
            <a:off x="5372100" y="1028700"/>
            <a:ext cx="3343275" cy="2655215"/>
          </a:xfrm>
          <a:prstGeom prst="rect">
            <a:avLst/>
          </a:prstGeom>
          <a:solidFill>
            <a:srgbClr val="A7F3D0"/>
          </a:solidFill>
          <a:ln/>
        </p:spPr>
      </p:sp>
      <p:sp>
        <p:nvSpPr>
          <p:cNvPr id="15" name="Text 8"/>
          <p:cNvSpPr/>
          <p:nvPr/>
        </p:nvSpPr>
        <p:spPr>
          <a:xfrm>
            <a:off x="5543550" y="1171575"/>
            <a:ext cx="3000375" cy="207169"/>
          </a:xfrm>
          <a:prstGeom prst="rect">
            <a:avLst/>
          </a:prstGeom>
          <a:noFill/>
          <a:ln/>
        </p:spPr>
        <p:txBody>
          <a:bodyPr wrap="square" lIns="0" tIns="0" rIns="0" bIns="0" rtlCol="0" anchor="t">
            <a:spAutoFit/>
          </a:bodyPr>
          <a:lstStyle/>
          <a:p>
            <a:pPr algn="l" indent="0" marL="0">
              <a:buNone/>
            </a:pPr>
            <a:r>
              <a:rPr lang="en-US" sz="1200" dirty="0">
                <a:solidFill>
                  <a:srgbClr val="064E3B"/>
                </a:solidFill>
                <a:latin typeface="Inter" pitchFamily="34" charset="0"/>
                <a:ea typeface="Inter" pitchFamily="34" charset="-122"/>
                <a:cs typeface="Inter" pitchFamily="34" charset="-120"/>
              </a:rPr>
              <a:t>Main Project Goals</a:t>
            </a:r>
            <a:endParaRPr lang="en-US" sz="1200" dirty="0"/>
          </a:p>
        </p:txBody>
      </p:sp>
      <p:pic>
        <p:nvPicPr>
          <p:cNvPr id="16" name="Image 4" descr="preencoded.png">    </p:cNvPr>
          <p:cNvPicPr>
            <a:picLocks noChangeAspect="1"/>
          </p:cNvPicPr>
          <p:nvPr/>
        </p:nvPicPr>
        <p:blipFill>
          <a:blip r:embed="rId5"/>
          <a:stretch>
            <a:fillRect/>
          </a:stretch>
        </p:blipFill>
        <p:spPr>
          <a:xfrm>
            <a:off x="5543550" y="1464469"/>
            <a:ext cx="114300" cy="114300"/>
          </a:xfrm>
          <a:prstGeom prst="rect">
            <a:avLst/>
          </a:prstGeom>
        </p:spPr>
      </p:pic>
      <p:sp>
        <p:nvSpPr>
          <p:cNvPr id="17" name="Text 9"/>
          <p:cNvSpPr/>
          <p:nvPr/>
        </p:nvSpPr>
        <p:spPr>
          <a:xfrm>
            <a:off x="5743575" y="1435894"/>
            <a:ext cx="2800350" cy="310753"/>
          </a:xfrm>
          <a:prstGeom prst="rect">
            <a:avLst/>
          </a:prstGeom>
          <a:noFill/>
          <a:ln/>
        </p:spPr>
        <p:txBody>
          <a:bodyPr wrap="square" lIns="0" tIns="0" rIns="0" bIns="0" rtlCol="0" anchor="t">
            <a:spAutoFit/>
          </a:bodyPr>
          <a:lstStyle/>
          <a:p>
            <a:pPr algn="l" indent="0" marL="0">
              <a:buNone/>
            </a:pPr>
            <a:r>
              <a:rPr lang="en-US" sz="950" dirty="0">
                <a:solidFill>
                  <a:srgbClr val="064E3B"/>
                </a:solidFill>
                <a:latin typeface="Inter" pitchFamily="34" charset="0"/>
                <a:ea typeface="Inter" pitchFamily="34" charset="-122"/>
                <a:cs typeface="Inter" pitchFamily="34" charset="-120"/>
              </a:rPr>
              <a:t>High-speed product discovery and real-time search.</a:t>
            </a:r>
            <a:endParaRPr lang="en-US" sz="950" dirty="0"/>
          </a:p>
        </p:txBody>
      </p:sp>
      <p:pic>
        <p:nvPicPr>
          <p:cNvPr id="18" name="Image 5" descr="preencoded.png">    </p:cNvPr>
          <p:cNvPicPr>
            <a:picLocks noChangeAspect="1"/>
          </p:cNvPicPr>
          <p:nvPr/>
        </p:nvPicPr>
        <p:blipFill>
          <a:blip r:embed="rId6"/>
          <a:stretch>
            <a:fillRect/>
          </a:stretch>
        </p:blipFill>
        <p:spPr>
          <a:xfrm>
            <a:off x="5543550" y="1860947"/>
            <a:ext cx="114300" cy="114300"/>
          </a:xfrm>
          <a:prstGeom prst="rect">
            <a:avLst/>
          </a:prstGeom>
        </p:spPr>
      </p:pic>
      <p:sp>
        <p:nvSpPr>
          <p:cNvPr id="19" name="Text 10"/>
          <p:cNvSpPr/>
          <p:nvPr/>
        </p:nvSpPr>
        <p:spPr>
          <a:xfrm>
            <a:off x="5743575" y="1832372"/>
            <a:ext cx="2768203" cy="155377"/>
          </a:xfrm>
          <a:prstGeom prst="rect">
            <a:avLst/>
          </a:prstGeom>
          <a:noFill/>
          <a:ln/>
        </p:spPr>
        <p:txBody>
          <a:bodyPr wrap="square" lIns="0" tIns="0" rIns="0" bIns="0" rtlCol="0" anchor="t">
            <a:spAutoFit/>
          </a:bodyPr>
          <a:lstStyle/>
          <a:p>
            <a:pPr algn="l" indent="0" marL="0">
              <a:buNone/>
            </a:pPr>
            <a:r>
              <a:rPr lang="en-US" sz="950" dirty="0">
                <a:solidFill>
                  <a:srgbClr val="064E3B"/>
                </a:solidFill>
                <a:latin typeface="Inter" pitchFamily="34" charset="0"/>
                <a:ea typeface="Inter" pitchFamily="34" charset="-122"/>
                <a:cs typeface="Inter" pitchFamily="34" charset="-120"/>
              </a:rPr>
              <a:t>Seamless mobile-first responsive experience.</a:t>
            </a:r>
            <a:endParaRPr lang="en-US" sz="950" dirty="0"/>
          </a:p>
        </p:txBody>
      </p:sp>
      <p:pic>
        <p:nvPicPr>
          <p:cNvPr id="20" name="Image 6" descr="preencoded.png">    </p:cNvPr>
          <p:cNvPicPr>
            <a:picLocks noChangeAspect="1"/>
          </p:cNvPicPr>
          <p:nvPr/>
        </p:nvPicPr>
        <p:blipFill>
          <a:blip r:embed="rId7"/>
          <a:stretch>
            <a:fillRect/>
          </a:stretch>
        </p:blipFill>
        <p:spPr>
          <a:xfrm>
            <a:off x="5543550" y="2102048"/>
            <a:ext cx="114300" cy="114300"/>
          </a:xfrm>
          <a:prstGeom prst="rect">
            <a:avLst/>
          </a:prstGeom>
        </p:spPr>
      </p:pic>
      <p:sp>
        <p:nvSpPr>
          <p:cNvPr id="21" name="Text 11"/>
          <p:cNvSpPr/>
          <p:nvPr/>
        </p:nvSpPr>
        <p:spPr>
          <a:xfrm>
            <a:off x="5743575" y="2073473"/>
            <a:ext cx="2800350" cy="310753"/>
          </a:xfrm>
          <a:prstGeom prst="rect">
            <a:avLst/>
          </a:prstGeom>
          <a:noFill/>
          <a:ln/>
        </p:spPr>
        <p:txBody>
          <a:bodyPr wrap="square" lIns="0" tIns="0" rIns="0" bIns="0" rtlCol="0" anchor="t">
            <a:spAutoFit/>
          </a:bodyPr>
          <a:lstStyle/>
          <a:p>
            <a:pPr algn="l" indent="0" marL="0">
              <a:buNone/>
            </a:pPr>
            <a:r>
              <a:rPr lang="en-US" sz="950" dirty="0">
                <a:solidFill>
                  <a:srgbClr val="064E3B"/>
                </a:solidFill>
                <a:latin typeface="Inter" pitchFamily="34" charset="0"/>
                <a:ea typeface="Inter" pitchFamily="34" charset="-122"/>
                <a:cs typeface="Inter" pitchFamily="34" charset="-120"/>
              </a:rPr>
              <a:t>Integrated AI assistant for smart recommendations.</a:t>
            </a:r>
            <a:endParaRPr lang="en-US" sz="950" dirty="0"/>
          </a:p>
        </p:txBody>
      </p:sp>
      <p:pic>
        <p:nvPicPr>
          <p:cNvPr id="22" name="Image 7" descr="preencoded.png">    </p:cNvPr>
          <p:cNvPicPr>
            <a:picLocks noChangeAspect="1"/>
          </p:cNvPicPr>
          <p:nvPr/>
        </p:nvPicPr>
        <p:blipFill>
          <a:blip r:embed="rId8"/>
          <a:stretch>
            <a:fillRect/>
          </a:stretch>
        </p:blipFill>
        <p:spPr>
          <a:xfrm>
            <a:off x="5543550" y="2498527"/>
            <a:ext cx="114300" cy="114300"/>
          </a:xfrm>
          <a:prstGeom prst="rect">
            <a:avLst/>
          </a:prstGeom>
        </p:spPr>
      </p:pic>
      <p:sp>
        <p:nvSpPr>
          <p:cNvPr id="23" name="Text 12"/>
          <p:cNvSpPr/>
          <p:nvPr/>
        </p:nvSpPr>
        <p:spPr>
          <a:xfrm>
            <a:off x="5743575" y="2469952"/>
            <a:ext cx="2378869" cy="155377"/>
          </a:xfrm>
          <a:prstGeom prst="rect">
            <a:avLst/>
          </a:prstGeom>
          <a:noFill/>
          <a:ln/>
        </p:spPr>
        <p:txBody>
          <a:bodyPr wrap="square" lIns="0" tIns="0" rIns="0" bIns="0" rtlCol="0" anchor="t">
            <a:spAutoFit/>
          </a:bodyPr>
          <a:lstStyle/>
          <a:p>
            <a:pPr algn="l" indent="0" marL="0">
              <a:buNone/>
            </a:pPr>
            <a:r>
              <a:rPr lang="en-US" sz="950" dirty="0">
                <a:solidFill>
                  <a:srgbClr val="064E3B"/>
                </a:solidFill>
                <a:latin typeface="Inter" pitchFamily="34" charset="0"/>
                <a:ea typeface="Inter" pitchFamily="34" charset="-122"/>
                <a:cs typeface="Inter" pitchFamily="34" charset="-120"/>
              </a:rPr>
              <a:t>Secure and efficient checkout process.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57200"/>
          </a:xfrm>
          <a:prstGeom prst="rect">
            <a:avLst/>
          </a:prstGeom>
          <a:noFill/>
          <a:ln/>
        </p:spPr>
        <p:txBody>
          <a:bodyPr wrap="square" lIns="0" tIns="0" rIns="0" bIns="0" rtlCol="0" anchor="t">
            <a:spAutoFit/>
          </a:bodyPr>
          <a:lstStyle/>
          <a:p>
            <a:pPr algn="l" indent="0" marL="0">
              <a:buNone/>
            </a:pPr>
            <a:r>
              <a:rPr lang="en-US" sz="2450" b="1" dirty="0">
                <a:solidFill>
                  <a:srgbClr val="064E3B"/>
                </a:solidFill>
                <a:latin typeface="Playfair Display Bold" pitchFamily="34" charset="0"/>
                <a:ea typeface="Playfair Display Bold" pitchFamily="34" charset="-122"/>
                <a:cs typeface="Playfair Display Bold" pitchFamily="34" charset="-120"/>
              </a:rPr>
              <a:t>Problem Statement</a:t>
            </a:r>
            <a:endParaRPr lang="en-US" sz="2450" dirty="0"/>
          </a:p>
        </p:txBody>
      </p:sp>
      <p:pic>
        <p:nvPicPr>
          <p:cNvPr id="5" name="Image 1" descr="preencoded.png">    </p:cNvPr>
          <p:cNvPicPr>
            <a:picLocks noChangeAspect="1"/>
          </p:cNvPicPr>
          <p:nvPr/>
        </p:nvPicPr>
        <p:blipFill>
          <a:blip r:embed="rId2"/>
          <a:stretch>
            <a:fillRect/>
          </a:stretch>
        </p:blipFill>
        <p:spPr>
          <a:xfrm>
            <a:off x="571500" y="1435894"/>
            <a:ext cx="200025" cy="200025"/>
          </a:xfrm>
          <a:prstGeom prst="rect">
            <a:avLst/>
          </a:prstGeom>
        </p:spPr>
      </p:pic>
      <p:sp>
        <p:nvSpPr>
          <p:cNvPr id="6" name="Text 1"/>
          <p:cNvSpPr/>
          <p:nvPr/>
        </p:nvSpPr>
        <p:spPr>
          <a:xfrm>
            <a:off x="878681" y="1414463"/>
            <a:ext cx="1471613" cy="242888"/>
          </a:xfrm>
          <a:prstGeom prst="rect">
            <a:avLst/>
          </a:prstGeom>
          <a:noFill/>
          <a:ln/>
        </p:spPr>
        <p:txBody>
          <a:bodyPr wrap="square" lIns="0" tIns="0" rIns="0" bIns="0" rtlCol="0" anchor="t">
            <a:spAutoFit/>
          </a:bodyPr>
          <a:lstStyle/>
          <a:p>
            <a:pPr algn="l" indent="0" marL="0">
              <a:buNone/>
            </a:pPr>
            <a:r>
              <a:rPr lang="en-US" sz="1400" b="1" dirty="0">
                <a:solidFill>
                  <a:srgbClr val="475569"/>
                </a:solidFill>
                <a:latin typeface="Inter" pitchFamily="34" charset="0"/>
                <a:ea typeface="Inter" pitchFamily="34" charset="-122"/>
                <a:cs typeface="Inter" pitchFamily="34" charset="-120"/>
              </a:rPr>
              <a:t>The Challenges</a:t>
            </a:r>
            <a:endParaRPr lang="en-US" sz="1400" dirty="0"/>
          </a:p>
        </p:txBody>
      </p:sp>
      <p:pic>
        <p:nvPicPr>
          <p:cNvPr id="7" name="Image 2" descr="preencoded.png">    </p:cNvPr>
          <p:cNvPicPr>
            <a:picLocks noChangeAspect="1"/>
          </p:cNvPicPr>
          <p:nvPr/>
        </p:nvPicPr>
        <p:blipFill>
          <a:blip r:embed="rId3"/>
          <a:stretch>
            <a:fillRect/>
          </a:stretch>
        </p:blipFill>
        <p:spPr>
          <a:xfrm>
            <a:off x="571500" y="1835944"/>
            <a:ext cx="128588" cy="128588"/>
          </a:xfrm>
          <a:prstGeom prst="rect">
            <a:avLst/>
          </a:prstGeom>
        </p:spPr>
      </p:pic>
      <p:sp>
        <p:nvSpPr>
          <p:cNvPr id="8" name="Text 2"/>
          <p:cNvSpPr/>
          <p:nvPr/>
        </p:nvSpPr>
        <p:spPr>
          <a:xfrm>
            <a:off x="807244" y="1800225"/>
            <a:ext cx="3479006" cy="385763"/>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475569"/>
                </a:solidFill>
                <a:latin typeface="Inter" pitchFamily="34" charset="0"/>
                <a:ea typeface="Inter" pitchFamily="34" charset="-122"/>
                <a:cs typeface="Inter" pitchFamily="34" charset="-120"/>
              </a:rPr>
              <a:t>Limited Accessibility:</a:t>
            </a:r>
            <a:r>
              <a:rPr lang="en-US" sz="950" dirty="0">
                <a:solidFill>
                  <a:srgbClr val="475569"/>
                </a:solidFill>
                <a:latin typeface="Inter" pitchFamily="34" charset="0"/>
                <a:ea typeface="Inter" pitchFamily="34" charset="-122"/>
                <a:cs typeface="Inter" pitchFamily="34" charset="-120"/>
              </a:rPr>
              <a:t> Traditional shopping is restricted by </a:t>
            </a:r>
            <a:r>
              <a:rPr lang="en-US" sz="950" dirty="0">
                <a:solidFill>
                  <a:srgbClr val="475569"/>
                </a:solidFill>
                <a:latin typeface="Inter" pitchFamily="34" charset="0"/>
                <a:ea typeface="Inter" pitchFamily="34" charset="-122"/>
                <a:cs typeface="Inter" pitchFamily="34" charset="-120"/>
              </a:rPr>
              <a:t>location and operating hours.</a:t>
            </a:r>
            <a:endParaRPr lang="en-US" sz="900" dirty="0"/>
          </a:p>
        </p:txBody>
      </p:sp>
      <p:pic>
        <p:nvPicPr>
          <p:cNvPr id="9" name="Image 3" descr="preencoded.png">    </p:cNvPr>
          <p:cNvPicPr>
            <a:picLocks noChangeAspect="1"/>
          </p:cNvPicPr>
          <p:nvPr/>
        </p:nvPicPr>
        <p:blipFill>
          <a:blip r:embed="rId4"/>
          <a:stretch>
            <a:fillRect/>
          </a:stretch>
        </p:blipFill>
        <p:spPr>
          <a:xfrm>
            <a:off x="571500" y="2400300"/>
            <a:ext cx="128588" cy="128588"/>
          </a:xfrm>
          <a:prstGeom prst="rect">
            <a:avLst/>
          </a:prstGeom>
        </p:spPr>
      </p:pic>
      <p:sp>
        <p:nvSpPr>
          <p:cNvPr id="10" name="Text 3"/>
          <p:cNvSpPr/>
          <p:nvPr/>
        </p:nvSpPr>
        <p:spPr>
          <a:xfrm>
            <a:off x="807244" y="2364581"/>
            <a:ext cx="3479006" cy="385763"/>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475569"/>
                </a:solidFill>
                <a:latin typeface="Inter" pitchFamily="34" charset="0"/>
                <a:ea typeface="Inter" pitchFamily="34" charset="-122"/>
                <a:cs typeface="Inter" pitchFamily="34" charset="-120"/>
              </a:rPr>
              <a:t>Inefficient Discovery:</a:t>
            </a:r>
            <a:r>
              <a:rPr lang="en-US" sz="950" dirty="0">
                <a:solidFill>
                  <a:srgbClr val="475569"/>
                </a:solidFill>
                <a:latin typeface="Inter" pitchFamily="34" charset="0"/>
                <a:ea typeface="Inter" pitchFamily="34" charset="-122"/>
                <a:cs typeface="Inter" pitchFamily="34" charset="-120"/>
              </a:rPr>
              <a:t> Difficulty in comparing products, </a:t>
            </a:r>
            <a:r>
              <a:rPr lang="en-US" sz="950" dirty="0">
                <a:solidFill>
                  <a:srgbClr val="475569"/>
                </a:solidFill>
                <a:latin typeface="Inter" pitchFamily="34" charset="0"/>
                <a:ea typeface="Inter" pitchFamily="34" charset="-122"/>
                <a:cs typeface="Inter" pitchFamily="34" charset="-120"/>
              </a:rPr>
              <a:t>prices, and reviews across physical stores.</a:t>
            </a:r>
            <a:endParaRPr lang="en-US" sz="900" dirty="0"/>
          </a:p>
        </p:txBody>
      </p:sp>
      <p:pic>
        <p:nvPicPr>
          <p:cNvPr id="11" name="Image 4" descr="preencoded.png">    </p:cNvPr>
          <p:cNvPicPr>
            <a:picLocks noChangeAspect="1"/>
          </p:cNvPicPr>
          <p:nvPr/>
        </p:nvPicPr>
        <p:blipFill>
          <a:blip r:embed="rId5"/>
          <a:stretch>
            <a:fillRect/>
          </a:stretch>
        </p:blipFill>
        <p:spPr>
          <a:xfrm>
            <a:off x="571500" y="2964656"/>
            <a:ext cx="160734" cy="128588"/>
          </a:xfrm>
          <a:prstGeom prst="rect">
            <a:avLst/>
          </a:prstGeom>
        </p:spPr>
      </p:pic>
      <p:sp>
        <p:nvSpPr>
          <p:cNvPr id="12" name="Text 4"/>
          <p:cNvSpPr/>
          <p:nvPr/>
        </p:nvSpPr>
        <p:spPr>
          <a:xfrm>
            <a:off x="839391" y="2928938"/>
            <a:ext cx="3446859" cy="385763"/>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475569"/>
                </a:solidFill>
                <a:latin typeface="Inter" pitchFamily="34" charset="0"/>
                <a:ea typeface="Inter" pitchFamily="34" charset="-122"/>
                <a:cs typeface="Inter" pitchFamily="34" charset="-120"/>
              </a:rPr>
              <a:t>Poor Digital UX:</a:t>
            </a:r>
            <a:r>
              <a:rPr lang="en-US" sz="950" dirty="0">
                <a:solidFill>
                  <a:srgbClr val="475569"/>
                </a:solidFill>
                <a:latin typeface="Inter" pitchFamily="34" charset="0"/>
                <a:ea typeface="Inter" pitchFamily="34" charset="-122"/>
                <a:cs typeface="Inter" pitchFamily="34" charset="-120"/>
              </a:rPr>
              <a:t> Existing platforms often suffer from slow </a:t>
            </a:r>
            <a:r>
              <a:rPr lang="en-US" sz="950" dirty="0">
                <a:solidFill>
                  <a:srgbClr val="475569"/>
                </a:solidFill>
                <a:latin typeface="Inter" pitchFamily="34" charset="0"/>
                <a:ea typeface="Inter" pitchFamily="34" charset="-122"/>
                <a:cs typeface="Inter" pitchFamily="34" charset="-120"/>
              </a:rPr>
              <a:t>performance and complex navigation.</a:t>
            </a:r>
            <a:endParaRPr lang="en-US" sz="900" dirty="0"/>
          </a:p>
        </p:txBody>
      </p:sp>
      <p:sp>
        <p:nvSpPr>
          <p:cNvPr id="13" name="Shape 5"/>
          <p:cNvSpPr/>
          <p:nvPr/>
        </p:nvSpPr>
        <p:spPr>
          <a:xfrm>
            <a:off x="4572000" y="1171575"/>
            <a:ext cx="4000500" cy="2321719"/>
          </a:xfrm>
          <a:prstGeom prst="rect">
            <a:avLst/>
          </a:prstGeom>
          <a:solidFill>
            <a:srgbClr val="A7F3D0">
              <a:alpha val="20000"/>
            </a:srgbClr>
          </a:solidFill>
          <a:ln/>
        </p:spPr>
      </p:sp>
      <p:sp>
        <p:nvSpPr>
          <p:cNvPr id="14" name="Shape 6"/>
          <p:cNvSpPr/>
          <p:nvPr/>
        </p:nvSpPr>
        <p:spPr>
          <a:xfrm>
            <a:off x="4572000" y="1171575"/>
            <a:ext cx="4000500" cy="28575"/>
          </a:xfrm>
          <a:prstGeom prst="rect">
            <a:avLst/>
          </a:prstGeom>
          <a:solidFill>
            <a:srgbClr val="064E3B"/>
          </a:solidFill>
          <a:ln/>
        </p:spPr>
      </p:sp>
      <p:pic>
        <p:nvPicPr>
          <p:cNvPr id="15" name="Image 5" descr="preencoded.png">    </p:cNvPr>
          <p:cNvPicPr>
            <a:picLocks noChangeAspect="1"/>
          </p:cNvPicPr>
          <p:nvPr/>
        </p:nvPicPr>
        <p:blipFill>
          <a:blip r:embed="rId6"/>
          <a:stretch>
            <a:fillRect/>
          </a:stretch>
        </p:blipFill>
        <p:spPr>
          <a:xfrm>
            <a:off x="4714875" y="1407319"/>
            <a:ext cx="150019" cy="200025"/>
          </a:xfrm>
          <a:prstGeom prst="rect">
            <a:avLst/>
          </a:prstGeom>
        </p:spPr>
      </p:pic>
      <p:sp>
        <p:nvSpPr>
          <p:cNvPr id="16" name="Text 7"/>
          <p:cNvSpPr/>
          <p:nvPr/>
        </p:nvSpPr>
        <p:spPr>
          <a:xfrm>
            <a:off x="4972050" y="1385888"/>
            <a:ext cx="1902023" cy="242888"/>
          </a:xfrm>
          <a:prstGeom prst="rect">
            <a:avLst/>
          </a:prstGeom>
          <a:noFill/>
          <a:ln/>
        </p:spPr>
        <p:txBody>
          <a:bodyPr wrap="square" lIns="0" tIns="0" rIns="0" bIns="0" rtlCol="0" anchor="t">
            <a:spAutoFit/>
          </a:bodyPr>
          <a:lstStyle/>
          <a:p>
            <a:pPr algn="l" indent="0" marL="0">
              <a:buNone/>
            </a:pPr>
            <a:r>
              <a:rPr lang="en-US" sz="1400" b="1" dirty="0">
                <a:solidFill>
                  <a:srgbClr val="064E3B"/>
                </a:solidFill>
                <a:latin typeface="Inter" pitchFamily="34" charset="0"/>
                <a:ea typeface="Inter" pitchFamily="34" charset="-122"/>
                <a:cs typeface="Inter" pitchFamily="34" charset="-120"/>
              </a:rPr>
              <a:t>Volt Market Solution</a:t>
            </a:r>
            <a:endParaRPr lang="en-US" sz="1400" dirty="0"/>
          </a:p>
        </p:txBody>
      </p:sp>
      <p:pic>
        <p:nvPicPr>
          <p:cNvPr id="17" name="Image 6" descr="preencoded.png">    </p:cNvPr>
          <p:cNvPicPr>
            <a:picLocks noChangeAspect="1"/>
          </p:cNvPicPr>
          <p:nvPr/>
        </p:nvPicPr>
        <p:blipFill>
          <a:blip r:embed="rId7"/>
          <a:stretch>
            <a:fillRect/>
          </a:stretch>
        </p:blipFill>
        <p:spPr>
          <a:xfrm>
            <a:off x="4714875" y="1807369"/>
            <a:ext cx="128588" cy="128588"/>
          </a:xfrm>
          <a:prstGeom prst="rect">
            <a:avLst/>
          </a:prstGeom>
        </p:spPr>
      </p:pic>
      <p:sp>
        <p:nvSpPr>
          <p:cNvPr id="18" name="Text 8"/>
          <p:cNvSpPr/>
          <p:nvPr/>
        </p:nvSpPr>
        <p:spPr>
          <a:xfrm>
            <a:off x="4950619" y="1771650"/>
            <a:ext cx="3479006" cy="385763"/>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475569"/>
                </a:solidFill>
                <a:latin typeface="Inter" pitchFamily="34" charset="0"/>
                <a:ea typeface="Inter" pitchFamily="34" charset="-122"/>
                <a:cs typeface="Inter" pitchFamily="34" charset="-120"/>
              </a:rPr>
              <a:t>24/7 Global Access:</a:t>
            </a:r>
            <a:r>
              <a:rPr lang="en-US" sz="950" dirty="0">
                <a:solidFill>
                  <a:srgbClr val="475569"/>
                </a:solidFill>
                <a:latin typeface="Inter" pitchFamily="34" charset="0"/>
                <a:ea typeface="Inter" pitchFamily="34" charset="-122"/>
                <a:cs typeface="Inter" pitchFamily="34" charset="-120"/>
              </a:rPr>
              <a:t> Shop anytime, anywhere with a </a:t>
            </a:r>
            <a:r>
              <a:rPr lang="en-US" sz="950" dirty="0">
                <a:solidFill>
                  <a:srgbClr val="475569"/>
                </a:solidFill>
                <a:latin typeface="Inter" pitchFamily="34" charset="0"/>
                <a:ea typeface="Inter" pitchFamily="34" charset="-122"/>
                <a:cs typeface="Inter" pitchFamily="34" charset="-120"/>
              </a:rPr>
              <a:t>mobile-optimized interface.</a:t>
            </a:r>
            <a:endParaRPr lang="en-US" sz="900" dirty="0"/>
          </a:p>
        </p:txBody>
      </p:sp>
      <p:pic>
        <p:nvPicPr>
          <p:cNvPr id="19" name="Image 7" descr="preencoded.png">    </p:cNvPr>
          <p:cNvPicPr>
            <a:picLocks noChangeAspect="1"/>
          </p:cNvPicPr>
          <p:nvPr/>
        </p:nvPicPr>
        <p:blipFill>
          <a:blip r:embed="rId8"/>
          <a:stretch>
            <a:fillRect/>
          </a:stretch>
        </p:blipFill>
        <p:spPr>
          <a:xfrm>
            <a:off x="4714875" y="2371725"/>
            <a:ext cx="96441" cy="128588"/>
          </a:xfrm>
          <a:prstGeom prst="rect">
            <a:avLst/>
          </a:prstGeom>
        </p:spPr>
      </p:pic>
      <p:sp>
        <p:nvSpPr>
          <p:cNvPr id="20" name="Text 9"/>
          <p:cNvSpPr/>
          <p:nvPr/>
        </p:nvSpPr>
        <p:spPr>
          <a:xfrm>
            <a:off x="4918472" y="2336006"/>
            <a:ext cx="3511153" cy="385763"/>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475569"/>
                </a:solidFill>
                <a:latin typeface="Inter" pitchFamily="34" charset="0"/>
                <a:ea typeface="Inter" pitchFamily="34" charset="-122"/>
                <a:cs typeface="Inter" pitchFamily="34" charset="-120"/>
              </a:rPr>
              <a:t>Instant Intelligence:</a:t>
            </a:r>
            <a:r>
              <a:rPr lang="en-US" sz="950" dirty="0">
                <a:solidFill>
                  <a:srgbClr val="475569"/>
                </a:solidFill>
                <a:latin typeface="Inter" pitchFamily="34" charset="0"/>
                <a:ea typeface="Inter" pitchFamily="34" charset="-122"/>
                <a:cs typeface="Inter" pitchFamily="34" charset="-120"/>
              </a:rPr>
              <a:t> Real-time search and an integrated AI </a:t>
            </a:r>
            <a:r>
              <a:rPr lang="en-US" sz="950" dirty="0">
                <a:solidFill>
                  <a:srgbClr val="475569"/>
                </a:solidFill>
                <a:latin typeface="Inter" pitchFamily="34" charset="0"/>
                <a:ea typeface="Inter" pitchFamily="34" charset="-122"/>
                <a:cs typeface="Inter" pitchFamily="34" charset="-120"/>
              </a:rPr>
              <a:t>Assistant for product discovery.</a:t>
            </a:r>
            <a:endParaRPr lang="en-US" sz="900" dirty="0"/>
          </a:p>
        </p:txBody>
      </p:sp>
      <p:pic>
        <p:nvPicPr>
          <p:cNvPr id="21" name="Image 8" descr="preencoded.png">    </p:cNvPr>
          <p:cNvPicPr>
            <a:picLocks noChangeAspect="1"/>
          </p:cNvPicPr>
          <p:nvPr/>
        </p:nvPicPr>
        <p:blipFill>
          <a:blip r:embed="rId9"/>
          <a:stretch>
            <a:fillRect/>
          </a:stretch>
        </p:blipFill>
        <p:spPr>
          <a:xfrm>
            <a:off x="4714875" y="2936081"/>
            <a:ext cx="144661" cy="128588"/>
          </a:xfrm>
          <a:prstGeom prst="rect">
            <a:avLst/>
          </a:prstGeom>
        </p:spPr>
      </p:pic>
      <p:sp>
        <p:nvSpPr>
          <p:cNvPr id="22" name="Text 10"/>
          <p:cNvSpPr/>
          <p:nvPr/>
        </p:nvSpPr>
        <p:spPr>
          <a:xfrm>
            <a:off x="4966692" y="2900363"/>
            <a:ext cx="3462933" cy="385763"/>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475569"/>
                </a:solidFill>
                <a:latin typeface="Inter" pitchFamily="34" charset="0"/>
                <a:ea typeface="Inter" pitchFamily="34" charset="-122"/>
                <a:cs typeface="Inter" pitchFamily="34" charset="-120"/>
              </a:rPr>
              <a:t>High Performance:</a:t>
            </a:r>
            <a:r>
              <a:rPr lang="en-US" sz="950" dirty="0">
                <a:solidFill>
                  <a:srgbClr val="475569"/>
                </a:solidFill>
                <a:latin typeface="Inter" pitchFamily="34" charset="0"/>
                <a:ea typeface="Inter" pitchFamily="34" charset="-122"/>
                <a:cs typeface="Inter" pitchFamily="34" charset="-120"/>
              </a:rPr>
              <a:t> Single-page architecture ensures </a:t>
            </a:r>
            <a:r>
              <a:rPr lang="en-US" sz="950" dirty="0">
                <a:solidFill>
                  <a:srgbClr val="475569"/>
                </a:solidFill>
                <a:latin typeface="Inter" pitchFamily="34" charset="0"/>
                <a:ea typeface="Inter" pitchFamily="34" charset="-122"/>
                <a:cs typeface="Inter" pitchFamily="34" charset="-120"/>
              </a:rPr>
              <a:t>rapid transitions and zero page reloads.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57200"/>
          </a:xfrm>
          <a:prstGeom prst="rect">
            <a:avLst/>
          </a:prstGeom>
          <a:noFill/>
          <a:ln/>
        </p:spPr>
        <p:txBody>
          <a:bodyPr wrap="square" lIns="0" tIns="0" rIns="0" bIns="0" rtlCol="0" anchor="t">
            <a:spAutoFit/>
          </a:bodyPr>
          <a:lstStyle/>
          <a:p>
            <a:pPr algn="l" indent="0" marL="0">
              <a:buNone/>
            </a:pPr>
            <a:r>
              <a:rPr lang="en-US" sz="2450" b="1" dirty="0">
                <a:solidFill>
                  <a:srgbClr val="064E3B"/>
                </a:solidFill>
                <a:latin typeface="Playfair Display Bold" pitchFamily="34" charset="0"/>
                <a:ea typeface="Playfair Display Bold" pitchFamily="34" charset="-122"/>
                <a:cs typeface="Playfair Display Bold" pitchFamily="34" charset="-120"/>
              </a:rPr>
              <a:t>Core Features &amp; Functionality</a:t>
            </a:r>
            <a:endParaRPr lang="en-US" sz="2450" dirty="0"/>
          </a:p>
        </p:txBody>
      </p:sp>
      <p:pic>
        <p:nvPicPr>
          <p:cNvPr id="5" name="Image 1" descr="preencoded.png">    </p:cNvPr>
          <p:cNvPicPr>
            <a:picLocks noChangeAspect="1"/>
          </p:cNvPicPr>
          <p:nvPr/>
        </p:nvPicPr>
        <p:blipFill>
          <a:blip r:embed="rId2"/>
          <a:stretch>
            <a:fillRect/>
          </a:stretch>
        </p:blipFill>
        <p:spPr>
          <a:xfrm>
            <a:off x="571500" y="1423392"/>
            <a:ext cx="178594" cy="142875"/>
          </a:xfrm>
          <a:prstGeom prst="rect">
            <a:avLst/>
          </a:prstGeom>
        </p:spPr>
      </p:pic>
      <p:sp>
        <p:nvSpPr>
          <p:cNvPr id="6" name="Text 1"/>
          <p:cNvSpPr/>
          <p:nvPr/>
        </p:nvSpPr>
        <p:spPr>
          <a:xfrm>
            <a:off x="835819" y="1400175"/>
            <a:ext cx="1396603" cy="189309"/>
          </a:xfrm>
          <a:prstGeom prst="rect">
            <a:avLst/>
          </a:prstGeom>
          <a:noFill/>
          <a:ln/>
        </p:spPr>
        <p:txBody>
          <a:bodyPr wrap="square" lIns="0" tIns="0" rIns="0" bIns="0" rtlCol="0" anchor="t">
            <a:spAutoFit/>
          </a:bodyPr>
          <a:lstStyle/>
          <a:p>
            <a:pPr algn="l" indent="0" marL="0">
              <a:buNone/>
            </a:pPr>
            <a:r>
              <a:rPr lang="en-US" sz="1100" dirty="0">
                <a:solidFill>
                  <a:srgbClr val="064E3B"/>
                </a:solidFill>
                <a:latin typeface="Inter SemiBold" pitchFamily="34" charset="0"/>
                <a:ea typeface="Inter SemiBold" pitchFamily="34" charset="-122"/>
                <a:cs typeface="Inter SemiBold" pitchFamily="34" charset="-120"/>
              </a:rPr>
              <a:t>User Management</a:t>
            </a:r>
            <a:endParaRPr lang="en-US" sz="1100" dirty="0"/>
          </a:p>
        </p:txBody>
      </p:sp>
      <p:sp>
        <p:nvSpPr>
          <p:cNvPr id="7" name="Text 2"/>
          <p:cNvSpPr/>
          <p:nvPr/>
        </p:nvSpPr>
        <p:spPr>
          <a:xfrm>
            <a:off x="571500" y="1675209"/>
            <a:ext cx="2476481"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Secure registration and login system with JWT-based authentication and protected routes for user privacy.</a:t>
            </a:r>
            <a:endParaRPr lang="en-US" sz="850" dirty="0"/>
          </a:p>
        </p:txBody>
      </p:sp>
      <p:pic>
        <p:nvPicPr>
          <p:cNvPr id="8" name="Image 2" descr="preencoded.png">    </p:cNvPr>
          <p:cNvPicPr>
            <a:picLocks noChangeAspect="1"/>
          </p:cNvPicPr>
          <p:nvPr/>
        </p:nvPicPr>
        <p:blipFill>
          <a:blip r:embed="rId3"/>
          <a:stretch>
            <a:fillRect/>
          </a:stretch>
        </p:blipFill>
        <p:spPr>
          <a:xfrm>
            <a:off x="3333731" y="1423392"/>
            <a:ext cx="142875" cy="142875"/>
          </a:xfrm>
          <a:prstGeom prst="rect">
            <a:avLst/>
          </a:prstGeom>
        </p:spPr>
      </p:pic>
      <p:sp>
        <p:nvSpPr>
          <p:cNvPr id="9" name="Text 3"/>
          <p:cNvSpPr/>
          <p:nvPr/>
        </p:nvSpPr>
        <p:spPr>
          <a:xfrm>
            <a:off x="3562331" y="1400175"/>
            <a:ext cx="1259086" cy="189309"/>
          </a:xfrm>
          <a:prstGeom prst="rect">
            <a:avLst/>
          </a:prstGeom>
          <a:noFill/>
          <a:ln/>
        </p:spPr>
        <p:txBody>
          <a:bodyPr wrap="none" lIns="0" tIns="0" rIns="0" bIns="0" rtlCol="0" anchor="t">
            <a:spAutoFit/>
          </a:bodyPr>
          <a:lstStyle/>
          <a:p>
            <a:pPr algn="l" indent="0" marL="0">
              <a:buNone/>
            </a:pPr>
            <a:r>
              <a:rPr lang="en-US" sz="1100" dirty="0">
                <a:solidFill>
                  <a:srgbClr val="064E3B"/>
                </a:solidFill>
                <a:latin typeface="Inter SemiBold" pitchFamily="34" charset="0"/>
                <a:ea typeface="Inter SemiBold" pitchFamily="34" charset="-122"/>
                <a:cs typeface="Inter SemiBold" pitchFamily="34" charset="-120"/>
              </a:rPr>
              <a:t>Smart Discovery</a:t>
            </a:r>
            <a:endParaRPr lang="en-US" sz="1100" dirty="0"/>
          </a:p>
        </p:txBody>
      </p:sp>
      <p:sp>
        <p:nvSpPr>
          <p:cNvPr id="10" name="Text 4"/>
          <p:cNvSpPr/>
          <p:nvPr/>
        </p:nvSpPr>
        <p:spPr>
          <a:xfrm>
            <a:off x="3333731" y="1675209"/>
            <a:ext cx="2476509"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Advanced search functionality with real-time filtering by categories, brands, and price ranges.</a:t>
            </a:r>
            <a:endParaRPr lang="en-US" sz="850" dirty="0"/>
          </a:p>
        </p:txBody>
      </p:sp>
      <p:pic>
        <p:nvPicPr>
          <p:cNvPr id="11" name="Image 3" descr="preencoded.png">    </p:cNvPr>
          <p:cNvPicPr>
            <a:picLocks noChangeAspect="1"/>
          </p:cNvPicPr>
          <p:nvPr/>
        </p:nvPicPr>
        <p:blipFill>
          <a:blip r:embed="rId4"/>
          <a:stretch>
            <a:fillRect/>
          </a:stretch>
        </p:blipFill>
        <p:spPr>
          <a:xfrm>
            <a:off x="6095991" y="1423392"/>
            <a:ext cx="160734" cy="142875"/>
          </a:xfrm>
          <a:prstGeom prst="rect">
            <a:avLst/>
          </a:prstGeom>
        </p:spPr>
      </p:pic>
      <p:sp>
        <p:nvSpPr>
          <p:cNvPr id="12" name="Text 5"/>
          <p:cNvSpPr/>
          <p:nvPr/>
        </p:nvSpPr>
        <p:spPr>
          <a:xfrm>
            <a:off x="6342450" y="1400175"/>
            <a:ext cx="1035844" cy="189309"/>
          </a:xfrm>
          <a:prstGeom prst="rect">
            <a:avLst/>
          </a:prstGeom>
          <a:noFill/>
          <a:ln/>
        </p:spPr>
        <p:txBody>
          <a:bodyPr wrap="none" lIns="0" tIns="0" rIns="0" bIns="0" rtlCol="0" anchor="t">
            <a:spAutoFit/>
          </a:bodyPr>
          <a:lstStyle/>
          <a:p>
            <a:pPr algn="l" indent="0" marL="0">
              <a:buNone/>
            </a:pPr>
            <a:r>
              <a:rPr lang="en-US" sz="1100" dirty="0">
                <a:solidFill>
                  <a:srgbClr val="064E3B"/>
                </a:solidFill>
                <a:latin typeface="Inter SemiBold" pitchFamily="34" charset="0"/>
                <a:ea typeface="Inter SemiBold" pitchFamily="34" charset="-122"/>
                <a:cs typeface="Inter SemiBold" pitchFamily="34" charset="-120"/>
              </a:rPr>
              <a:t>Dynamic Cart</a:t>
            </a:r>
            <a:endParaRPr lang="en-US" sz="1100" dirty="0"/>
          </a:p>
        </p:txBody>
      </p:sp>
      <p:sp>
        <p:nvSpPr>
          <p:cNvPr id="13" name="Text 6"/>
          <p:cNvSpPr/>
          <p:nvPr/>
        </p:nvSpPr>
        <p:spPr>
          <a:xfrm>
            <a:off x="6095991" y="1675209"/>
            <a:ext cx="2476481"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Real-time shopping cart management with instant updates, quantity controls, and persistent storage.</a:t>
            </a:r>
            <a:endParaRPr lang="en-US" sz="850" dirty="0"/>
          </a:p>
        </p:txBody>
      </p:sp>
      <p:pic>
        <p:nvPicPr>
          <p:cNvPr id="14" name="Image 4" descr="preencoded.png">    </p:cNvPr>
          <p:cNvPicPr>
            <a:picLocks noChangeAspect="1"/>
          </p:cNvPicPr>
          <p:nvPr/>
        </p:nvPicPr>
        <p:blipFill>
          <a:blip r:embed="rId5"/>
          <a:stretch>
            <a:fillRect/>
          </a:stretch>
        </p:blipFill>
        <p:spPr>
          <a:xfrm>
            <a:off x="571500" y="2655689"/>
            <a:ext cx="142875" cy="142875"/>
          </a:xfrm>
          <a:prstGeom prst="rect">
            <a:avLst/>
          </a:prstGeom>
        </p:spPr>
      </p:pic>
      <p:sp>
        <p:nvSpPr>
          <p:cNvPr id="15" name="Text 7"/>
          <p:cNvSpPr/>
          <p:nvPr/>
        </p:nvSpPr>
        <p:spPr>
          <a:xfrm>
            <a:off x="800100" y="2632472"/>
            <a:ext cx="1214438" cy="189309"/>
          </a:xfrm>
          <a:prstGeom prst="rect">
            <a:avLst/>
          </a:prstGeom>
          <a:noFill/>
          <a:ln/>
        </p:spPr>
        <p:txBody>
          <a:bodyPr wrap="none" lIns="0" tIns="0" rIns="0" bIns="0" rtlCol="0" anchor="t">
            <a:spAutoFit/>
          </a:bodyPr>
          <a:lstStyle/>
          <a:p>
            <a:pPr algn="l" indent="0" marL="0">
              <a:buNone/>
            </a:pPr>
            <a:r>
              <a:rPr lang="en-US" sz="1100" dirty="0">
                <a:solidFill>
                  <a:srgbClr val="064E3B"/>
                </a:solidFill>
                <a:latin typeface="Inter SemiBold" pitchFamily="34" charset="0"/>
                <a:ea typeface="Inter SemiBold" pitchFamily="34" charset="-122"/>
                <a:cs typeface="Inter SemiBold" pitchFamily="34" charset="-120"/>
              </a:rPr>
              <a:t>Wishlist System</a:t>
            </a:r>
            <a:endParaRPr lang="en-US" sz="1100" dirty="0"/>
          </a:p>
        </p:txBody>
      </p:sp>
      <p:sp>
        <p:nvSpPr>
          <p:cNvPr id="16" name="Text 8"/>
          <p:cNvSpPr/>
          <p:nvPr/>
        </p:nvSpPr>
        <p:spPr>
          <a:xfrm>
            <a:off x="571500" y="2907506"/>
            <a:ext cx="2476481"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Personalized wishlist allowing users to save favorite products for future purchases with one-click cart transfer.</a:t>
            </a:r>
            <a:endParaRPr lang="en-US" sz="850" dirty="0"/>
          </a:p>
        </p:txBody>
      </p:sp>
      <p:pic>
        <p:nvPicPr>
          <p:cNvPr id="17" name="Image 5" descr="preencoded.png">    </p:cNvPr>
          <p:cNvPicPr>
            <a:picLocks noChangeAspect="1"/>
          </p:cNvPicPr>
          <p:nvPr/>
        </p:nvPicPr>
        <p:blipFill>
          <a:blip r:embed="rId6"/>
          <a:stretch>
            <a:fillRect/>
          </a:stretch>
        </p:blipFill>
        <p:spPr>
          <a:xfrm>
            <a:off x="3333731" y="2655689"/>
            <a:ext cx="160734" cy="142875"/>
          </a:xfrm>
          <a:prstGeom prst="rect">
            <a:avLst/>
          </a:prstGeom>
        </p:spPr>
      </p:pic>
      <p:sp>
        <p:nvSpPr>
          <p:cNvPr id="18" name="Text 9"/>
          <p:cNvSpPr/>
          <p:nvPr/>
        </p:nvSpPr>
        <p:spPr>
          <a:xfrm>
            <a:off x="3580191" y="2632472"/>
            <a:ext cx="1303734" cy="189309"/>
          </a:xfrm>
          <a:prstGeom prst="rect">
            <a:avLst/>
          </a:prstGeom>
          <a:noFill/>
          <a:ln/>
        </p:spPr>
        <p:txBody>
          <a:bodyPr wrap="square" lIns="0" tIns="0" rIns="0" bIns="0" rtlCol="0" anchor="t">
            <a:spAutoFit/>
          </a:bodyPr>
          <a:lstStyle/>
          <a:p>
            <a:pPr algn="l" indent="0" marL="0">
              <a:buNone/>
            </a:pPr>
            <a:r>
              <a:rPr lang="en-US" sz="1100" dirty="0">
                <a:solidFill>
                  <a:srgbClr val="064E3B"/>
                </a:solidFill>
                <a:latin typeface="Inter SemiBold" pitchFamily="34" charset="0"/>
                <a:ea typeface="Inter SemiBold" pitchFamily="34" charset="-122"/>
                <a:cs typeface="Inter SemiBold" pitchFamily="34" charset="-120"/>
              </a:rPr>
              <a:t>Secure Checkout</a:t>
            </a:r>
            <a:endParaRPr lang="en-US" sz="1100" dirty="0"/>
          </a:p>
        </p:txBody>
      </p:sp>
      <p:sp>
        <p:nvSpPr>
          <p:cNvPr id="19" name="Text 10"/>
          <p:cNvSpPr/>
          <p:nvPr/>
        </p:nvSpPr>
        <p:spPr>
          <a:xfrm>
            <a:off x="3333731" y="2907506"/>
            <a:ext cx="2476509"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Streamlined multi-step checkout process with shipping details validation and order summary.</a:t>
            </a:r>
            <a:endParaRPr lang="en-US" sz="850" dirty="0"/>
          </a:p>
        </p:txBody>
      </p:sp>
      <p:pic>
        <p:nvPicPr>
          <p:cNvPr id="20" name="Image 6" descr="preencoded.png">    </p:cNvPr>
          <p:cNvPicPr>
            <a:picLocks noChangeAspect="1"/>
          </p:cNvPicPr>
          <p:nvPr/>
        </p:nvPicPr>
        <p:blipFill>
          <a:blip r:embed="rId7"/>
          <a:stretch>
            <a:fillRect/>
          </a:stretch>
        </p:blipFill>
        <p:spPr>
          <a:xfrm>
            <a:off x="6095991" y="2655689"/>
            <a:ext cx="178594" cy="142875"/>
          </a:xfrm>
          <a:prstGeom prst="rect">
            <a:avLst/>
          </a:prstGeom>
        </p:spPr>
      </p:pic>
      <p:sp>
        <p:nvSpPr>
          <p:cNvPr id="21" name="Text 11"/>
          <p:cNvSpPr/>
          <p:nvPr/>
        </p:nvSpPr>
        <p:spPr>
          <a:xfrm>
            <a:off x="6360309" y="2632472"/>
            <a:ext cx="905470" cy="189309"/>
          </a:xfrm>
          <a:prstGeom prst="rect">
            <a:avLst/>
          </a:prstGeom>
          <a:noFill/>
          <a:ln/>
        </p:spPr>
        <p:txBody>
          <a:bodyPr wrap="none" lIns="0" tIns="0" rIns="0" bIns="0" rtlCol="0" anchor="t">
            <a:spAutoFit/>
          </a:bodyPr>
          <a:lstStyle/>
          <a:p>
            <a:pPr algn="l" indent="0" marL="0">
              <a:buNone/>
            </a:pPr>
            <a:r>
              <a:rPr lang="en-US" sz="1100" dirty="0">
                <a:solidFill>
                  <a:srgbClr val="064E3B"/>
                </a:solidFill>
                <a:latin typeface="Inter SemiBold" pitchFamily="34" charset="0"/>
                <a:ea typeface="Inter SemiBold" pitchFamily="34" charset="-122"/>
                <a:cs typeface="Inter SemiBold" pitchFamily="34" charset="-120"/>
              </a:rPr>
              <a:t>AI Assistant</a:t>
            </a:r>
            <a:endParaRPr lang="en-US" sz="1100" dirty="0"/>
          </a:p>
        </p:txBody>
      </p:sp>
      <p:sp>
        <p:nvSpPr>
          <p:cNvPr id="22" name="Text 12"/>
          <p:cNvSpPr/>
          <p:nvPr/>
        </p:nvSpPr>
        <p:spPr>
          <a:xfrm>
            <a:off x="6095991" y="2907506"/>
            <a:ext cx="2476481"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Integrated ChatBot providing smart product recommendations and answering customer queries instantly.</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57200"/>
          </a:xfrm>
          <a:prstGeom prst="rect">
            <a:avLst/>
          </a:prstGeom>
          <a:noFill/>
          <a:ln/>
        </p:spPr>
        <p:txBody>
          <a:bodyPr wrap="square" lIns="0" tIns="0" rIns="0" bIns="0" rtlCol="0" anchor="t">
            <a:spAutoFit/>
          </a:bodyPr>
          <a:lstStyle/>
          <a:p>
            <a:pPr algn="l" indent="0" marL="0">
              <a:buNone/>
            </a:pPr>
            <a:r>
              <a:rPr lang="en-US" sz="2450" b="1" dirty="0">
                <a:solidFill>
                  <a:srgbClr val="064E3B"/>
                </a:solidFill>
                <a:latin typeface="Playfair Display Bold" pitchFamily="34" charset="0"/>
                <a:ea typeface="Playfair Display Bold" pitchFamily="34" charset="-122"/>
                <a:cs typeface="Playfair Display Bold" pitchFamily="34" charset="-120"/>
              </a:rPr>
              <a:t>Technical Stack &amp; Technologies</a:t>
            </a:r>
            <a:endParaRPr lang="en-US" sz="2450" dirty="0"/>
          </a:p>
        </p:txBody>
      </p:sp>
      <p:sp>
        <p:nvSpPr>
          <p:cNvPr id="5" name="Text 1"/>
          <p:cNvSpPr/>
          <p:nvPr/>
        </p:nvSpPr>
        <p:spPr>
          <a:xfrm>
            <a:off x="571500" y="1314450"/>
            <a:ext cx="1355527" cy="121444"/>
          </a:xfrm>
          <a:prstGeom prst="rect">
            <a:avLst/>
          </a:prstGeom>
          <a:noFill/>
          <a:ln/>
        </p:spPr>
        <p:txBody>
          <a:bodyPr wrap="square" lIns="0" tIns="0" rIns="0" bIns="0" rtlCol="0" anchor="t">
            <a:spAutoFit/>
          </a:bodyPr>
          <a:lstStyle/>
          <a:p>
            <a:pPr algn="l" indent="0" marL="0">
              <a:buNone/>
            </a:pPr>
            <a:r>
              <a:rPr lang="en-US" sz="700" spc="1" kern="0" dirty="0">
                <a:solidFill>
                  <a:srgbClr val="064E3B"/>
                </a:solidFill>
                <a:latin typeface="Inter" pitchFamily="34" charset="0"/>
                <a:ea typeface="Inter" pitchFamily="34" charset="-122"/>
                <a:cs typeface="Inter" pitchFamily="34" charset="-120"/>
              </a:rPr>
              <a:t>FRONTEND FRAMEWORK</a:t>
            </a:r>
            <a:endParaRPr lang="en-US" sz="700" dirty="0"/>
          </a:p>
        </p:txBody>
      </p:sp>
      <p:sp>
        <p:nvSpPr>
          <p:cNvPr id="6" name="Shape 2"/>
          <p:cNvSpPr/>
          <p:nvPr/>
        </p:nvSpPr>
        <p:spPr>
          <a:xfrm>
            <a:off x="571500" y="1471613"/>
            <a:ext cx="571500" cy="571500"/>
          </a:xfrm>
          <a:prstGeom prst="rect">
            <a:avLst/>
          </a:prstGeom>
          <a:solidFill>
            <a:srgbClr val="A7F3D0"/>
          </a:solidFill>
          <a:ln/>
        </p:spPr>
      </p:sp>
      <p:pic>
        <p:nvPicPr>
          <p:cNvPr id="7" name="Image 1" descr="preencoded.png">    </p:cNvPr>
          <p:cNvPicPr>
            <a:picLocks noChangeAspect="1"/>
          </p:cNvPicPr>
          <p:nvPr/>
        </p:nvPicPr>
        <p:blipFill>
          <a:blip r:embed="rId2"/>
          <a:stretch>
            <a:fillRect/>
          </a:stretch>
        </p:blipFill>
        <p:spPr>
          <a:xfrm>
            <a:off x="714375" y="1614488"/>
            <a:ext cx="285750" cy="285750"/>
          </a:xfrm>
          <a:prstGeom prst="rect">
            <a:avLst/>
          </a:prstGeom>
        </p:spPr>
      </p:pic>
      <p:sp>
        <p:nvSpPr>
          <p:cNvPr id="8" name="Text 3"/>
          <p:cNvSpPr/>
          <p:nvPr/>
        </p:nvSpPr>
        <p:spPr>
          <a:xfrm>
            <a:off x="571500" y="2150269"/>
            <a:ext cx="642938" cy="207169"/>
          </a:xfrm>
          <a:prstGeom prst="rect">
            <a:avLst/>
          </a:prstGeom>
          <a:noFill/>
          <a:ln/>
        </p:spPr>
        <p:txBody>
          <a:bodyPr wrap="none" lIns="0" tIns="0" rIns="0" bIns="0" rtlCol="0" anchor="t">
            <a:spAutoFit/>
          </a:bodyPr>
          <a:lstStyle/>
          <a:p>
            <a:pPr algn="l" indent="0" marL="0">
              <a:buNone/>
            </a:pPr>
            <a:r>
              <a:rPr lang="en-US" sz="1200" b="1" dirty="0">
                <a:solidFill>
                  <a:srgbClr val="064E3B"/>
                </a:solidFill>
                <a:latin typeface="Inter" pitchFamily="34" charset="0"/>
                <a:ea typeface="Inter" pitchFamily="34" charset="-122"/>
                <a:cs typeface="Inter" pitchFamily="34" charset="-120"/>
              </a:rPr>
              <a:t>React.js</a:t>
            </a:r>
            <a:endParaRPr lang="en-US" sz="1200" dirty="0"/>
          </a:p>
        </p:txBody>
      </p:sp>
      <p:sp>
        <p:nvSpPr>
          <p:cNvPr id="9" name="Text 4"/>
          <p:cNvSpPr/>
          <p:nvPr/>
        </p:nvSpPr>
        <p:spPr>
          <a:xfrm>
            <a:off x="571500" y="2428875"/>
            <a:ext cx="2476481"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Building a dynamic, component-based SPA for a smooth user experience.</a:t>
            </a:r>
            <a:endParaRPr lang="en-US" sz="850" dirty="0"/>
          </a:p>
        </p:txBody>
      </p:sp>
      <p:sp>
        <p:nvSpPr>
          <p:cNvPr id="10" name="Text 5"/>
          <p:cNvSpPr/>
          <p:nvPr/>
        </p:nvSpPr>
        <p:spPr>
          <a:xfrm>
            <a:off x="3333731" y="1314450"/>
            <a:ext cx="741164" cy="121444"/>
          </a:xfrm>
          <a:prstGeom prst="rect">
            <a:avLst/>
          </a:prstGeom>
          <a:noFill/>
          <a:ln/>
        </p:spPr>
        <p:txBody>
          <a:bodyPr wrap="none" lIns="0" tIns="0" rIns="0" bIns="0" rtlCol="0" anchor="t">
            <a:spAutoFit/>
          </a:bodyPr>
          <a:lstStyle/>
          <a:p>
            <a:pPr algn="l" indent="0" marL="0">
              <a:buNone/>
            </a:pPr>
            <a:r>
              <a:rPr lang="en-US" sz="700" spc="1" kern="0" dirty="0">
                <a:solidFill>
                  <a:srgbClr val="064E3B"/>
                </a:solidFill>
                <a:latin typeface="Inter" pitchFamily="34" charset="0"/>
                <a:ea typeface="Inter" pitchFamily="34" charset="-122"/>
                <a:cs typeface="Inter" pitchFamily="34" charset="-120"/>
              </a:rPr>
              <a:t>STYLING &amp; UI</a:t>
            </a:r>
            <a:endParaRPr lang="en-US" sz="700" dirty="0"/>
          </a:p>
        </p:txBody>
      </p:sp>
      <p:sp>
        <p:nvSpPr>
          <p:cNvPr id="11" name="Shape 6"/>
          <p:cNvSpPr/>
          <p:nvPr/>
        </p:nvSpPr>
        <p:spPr>
          <a:xfrm>
            <a:off x="3333731" y="1471613"/>
            <a:ext cx="571500" cy="571500"/>
          </a:xfrm>
          <a:prstGeom prst="rect">
            <a:avLst/>
          </a:prstGeom>
          <a:solidFill>
            <a:srgbClr val="A7F3D0"/>
          </a:solidFill>
          <a:ln/>
        </p:spPr>
      </p:sp>
      <p:pic>
        <p:nvPicPr>
          <p:cNvPr id="12" name="Image 2" descr="preencoded.png">    </p:cNvPr>
          <p:cNvPicPr>
            <a:picLocks noChangeAspect="1"/>
          </p:cNvPicPr>
          <p:nvPr/>
        </p:nvPicPr>
        <p:blipFill>
          <a:blip r:embed="rId3"/>
          <a:stretch>
            <a:fillRect/>
          </a:stretch>
        </p:blipFill>
        <p:spPr>
          <a:xfrm>
            <a:off x="3512325" y="1614488"/>
            <a:ext cx="214313" cy="285750"/>
          </a:xfrm>
          <a:prstGeom prst="rect">
            <a:avLst/>
          </a:prstGeom>
        </p:spPr>
      </p:pic>
      <p:sp>
        <p:nvSpPr>
          <p:cNvPr id="13" name="Text 7"/>
          <p:cNvSpPr/>
          <p:nvPr/>
        </p:nvSpPr>
        <p:spPr>
          <a:xfrm>
            <a:off x="3333731" y="2150269"/>
            <a:ext cx="1444823" cy="207169"/>
          </a:xfrm>
          <a:prstGeom prst="rect">
            <a:avLst/>
          </a:prstGeom>
          <a:noFill/>
          <a:ln/>
        </p:spPr>
        <p:txBody>
          <a:bodyPr wrap="square" lIns="0" tIns="0" rIns="0" bIns="0" rtlCol="0" anchor="t">
            <a:spAutoFit/>
          </a:bodyPr>
          <a:lstStyle/>
          <a:p>
            <a:pPr algn="l" indent="0" marL="0">
              <a:buNone/>
            </a:pPr>
            <a:r>
              <a:rPr lang="en-US" sz="1200" b="1" dirty="0">
                <a:solidFill>
                  <a:srgbClr val="064E3B"/>
                </a:solidFill>
                <a:latin typeface="Inter" pitchFamily="34" charset="0"/>
                <a:ea typeface="Inter" pitchFamily="34" charset="-122"/>
                <a:cs typeface="Inter" pitchFamily="34" charset="-120"/>
              </a:rPr>
              <a:t>CSS3 &amp; Bootstrap</a:t>
            </a:r>
            <a:endParaRPr lang="en-US" sz="1200" dirty="0"/>
          </a:p>
        </p:txBody>
      </p:sp>
      <p:sp>
        <p:nvSpPr>
          <p:cNvPr id="14" name="Text 8"/>
          <p:cNvSpPr/>
          <p:nvPr/>
        </p:nvSpPr>
        <p:spPr>
          <a:xfrm>
            <a:off x="3333731" y="2428875"/>
            <a:ext cx="2476509"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Responsive layouts and modern design systems for all screen sizes.</a:t>
            </a:r>
            <a:endParaRPr lang="en-US" sz="850" dirty="0"/>
          </a:p>
        </p:txBody>
      </p:sp>
      <p:sp>
        <p:nvSpPr>
          <p:cNvPr id="15" name="Text 9"/>
          <p:cNvSpPr/>
          <p:nvPr/>
        </p:nvSpPr>
        <p:spPr>
          <a:xfrm>
            <a:off x="6095991" y="1314450"/>
            <a:ext cx="1176933" cy="121444"/>
          </a:xfrm>
          <a:prstGeom prst="rect">
            <a:avLst/>
          </a:prstGeom>
          <a:noFill/>
          <a:ln/>
        </p:spPr>
        <p:txBody>
          <a:bodyPr wrap="none" lIns="0" tIns="0" rIns="0" bIns="0" rtlCol="0" anchor="t">
            <a:spAutoFit/>
          </a:bodyPr>
          <a:lstStyle/>
          <a:p>
            <a:pPr algn="l" indent="0" marL="0">
              <a:buNone/>
            </a:pPr>
            <a:r>
              <a:rPr lang="en-US" sz="700" spc="1" kern="0" dirty="0">
                <a:solidFill>
                  <a:srgbClr val="064E3B"/>
                </a:solidFill>
                <a:latin typeface="Inter" pitchFamily="34" charset="0"/>
                <a:ea typeface="Inter" pitchFamily="34" charset="-122"/>
                <a:cs typeface="Inter" pitchFamily="34" charset="-120"/>
              </a:rPr>
              <a:t>STATE MANAGEMENT</a:t>
            </a:r>
            <a:endParaRPr lang="en-US" sz="700" dirty="0"/>
          </a:p>
        </p:txBody>
      </p:sp>
      <p:sp>
        <p:nvSpPr>
          <p:cNvPr id="16" name="Shape 10"/>
          <p:cNvSpPr/>
          <p:nvPr/>
        </p:nvSpPr>
        <p:spPr>
          <a:xfrm>
            <a:off x="6095991" y="1471613"/>
            <a:ext cx="571500" cy="571500"/>
          </a:xfrm>
          <a:prstGeom prst="rect">
            <a:avLst/>
          </a:prstGeom>
          <a:solidFill>
            <a:srgbClr val="A7F3D0"/>
          </a:solidFill>
          <a:ln/>
        </p:spPr>
      </p:sp>
      <p:pic>
        <p:nvPicPr>
          <p:cNvPr id="17" name="Image 3" descr="preencoded.png">    </p:cNvPr>
          <p:cNvPicPr>
            <a:picLocks noChangeAspect="1"/>
          </p:cNvPicPr>
          <p:nvPr/>
        </p:nvPicPr>
        <p:blipFill>
          <a:blip r:embed="rId4"/>
          <a:stretch>
            <a:fillRect/>
          </a:stretch>
        </p:blipFill>
        <p:spPr>
          <a:xfrm>
            <a:off x="6256725" y="1614488"/>
            <a:ext cx="250031" cy="285750"/>
          </a:xfrm>
          <a:prstGeom prst="rect">
            <a:avLst/>
          </a:prstGeom>
        </p:spPr>
      </p:pic>
      <p:sp>
        <p:nvSpPr>
          <p:cNvPr id="18" name="Text 11"/>
          <p:cNvSpPr/>
          <p:nvPr/>
        </p:nvSpPr>
        <p:spPr>
          <a:xfrm>
            <a:off x="6095991" y="2150269"/>
            <a:ext cx="953691" cy="207169"/>
          </a:xfrm>
          <a:prstGeom prst="rect">
            <a:avLst/>
          </a:prstGeom>
          <a:noFill/>
          <a:ln/>
        </p:spPr>
        <p:txBody>
          <a:bodyPr wrap="none" lIns="0" tIns="0" rIns="0" bIns="0" rtlCol="0" anchor="t">
            <a:spAutoFit/>
          </a:bodyPr>
          <a:lstStyle/>
          <a:p>
            <a:pPr algn="l" indent="0" marL="0">
              <a:buNone/>
            </a:pPr>
            <a:r>
              <a:rPr lang="en-US" sz="1200" b="1" dirty="0">
                <a:solidFill>
                  <a:srgbClr val="064E3B"/>
                </a:solidFill>
                <a:latin typeface="Inter" pitchFamily="34" charset="0"/>
                <a:ea typeface="Inter" pitchFamily="34" charset="-122"/>
                <a:cs typeface="Inter" pitchFamily="34" charset="-120"/>
              </a:rPr>
              <a:t>Context API</a:t>
            </a:r>
            <a:endParaRPr lang="en-US" sz="1200" dirty="0"/>
          </a:p>
        </p:txBody>
      </p:sp>
      <p:sp>
        <p:nvSpPr>
          <p:cNvPr id="19" name="Text 12"/>
          <p:cNvSpPr/>
          <p:nvPr/>
        </p:nvSpPr>
        <p:spPr>
          <a:xfrm>
            <a:off x="6095991" y="2428875"/>
            <a:ext cx="2476481"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Global state handling for User, Cart, and Wishlist without external libraries.</a:t>
            </a:r>
            <a:endParaRPr lang="en-US" sz="850" dirty="0"/>
          </a:p>
        </p:txBody>
      </p:sp>
      <p:sp>
        <p:nvSpPr>
          <p:cNvPr id="20" name="Text 13"/>
          <p:cNvSpPr/>
          <p:nvPr/>
        </p:nvSpPr>
        <p:spPr>
          <a:xfrm>
            <a:off x="571500" y="3057525"/>
            <a:ext cx="755452" cy="121444"/>
          </a:xfrm>
          <a:prstGeom prst="rect">
            <a:avLst/>
          </a:prstGeom>
          <a:noFill/>
          <a:ln/>
        </p:spPr>
        <p:txBody>
          <a:bodyPr wrap="none" lIns="0" tIns="0" rIns="0" bIns="0" rtlCol="0" anchor="t">
            <a:spAutoFit/>
          </a:bodyPr>
          <a:lstStyle/>
          <a:p>
            <a:pPr algn="l" indent="0" marL="0">
              <a:buNone/>
            </a:pPr>
            <a:r>
              <a:rPr lang="en-US" sz="700" spc="1" kern="0" dirty="0">
                <a:solidFill>
                  <a:srgbClr val="064E3B"/>
                </a:solidFill>
                <a:latin typeface="Inter" pitchFamily="34" charset="0"/>
                <a:ea typeface="Inter" pitchFamily="34" charset="-122"/>
                <a:cs typeface="Inter" pitchFamily="34" charset="-120"/>
              </a:rPr>
              <a:t>NETWORKING</a:t>
            </a:r>
            <a:endParaRPr lang="en-US" sz="700" dirty="0"/>
          </a:p>
        </p:txBody>
      </p:sp>
      <p:sp>
        <p:nvSpPr>
          <p:cNvPr id="21" name="Shape 14"/>
          <p:cNvSpPr/>
          <p:nvPr/>
        </p:nvSpPr>
        <p:spPr>
          <a:xfrm>
            <a:off x="571500" y="3214688"/>
            <a:ext cx="571500" cy="571500"/>
          </a:xfrm>
          <a:prstGeom prst="rect">
            <a:avLst/>
          </a:prstGeom>
          <a:solidFill>
            <a:srgbClr val="A7F3D0"/>
          </a:solidFill>
          <a:ln/>
        </p:spPr>
      </p:sp>
      <p:pic>
        <p:nvPicPr>
          <p:cNvPr id="22" name="Image 4" descr="preencoded.png">    </p:cNvPr>
          <p:cNvPicPr>
            <a:picLocks noChangeAspect="1"/>
          </p:cNvPicPr>
          <p:nvPr/>
        </p:nvPicPr>
        <p:blipFill>
          <a:blip r:embed="rId5"/>
          <a:stretch>
            <a:fillRect/>
          </a:stretch>
        </p:blipFill>
        <p:spPr>
          <a:xfrm>
            <a:off x="714375" y="3357563"/>
            <a:ext cx="285750" cy="285750"/>
          </a:xfrm>
          <a:prstGeom prst="rect">
            <a:avLst/>
          </a:prstGeom>
        </p:spPr>
      </p:pic>
      <p:sp>
        <p:nvSpPr>
          <p:cNvPr id="23" name="Text 15"/>
          <p:cNvSpPr/>
          <p:nvPr/>
        </p:nvSpPr>
        <p:spPr>
          <a:xfrm>
            <a:off x="571500" y="3893344"/>
            <a:ext cx="446484" cy="207169"/>
          </a:xfrm>
          <a:prstGeom prst="rect">
            <a:avLst/>
          </a:prstGeom>
          <a:noFill/>
          <a:ln/>
        </p:spPr>
        <p:txBody>
          <a:bodyPr wrap="none" lIns="0" tIns="0" rIns="0" bIns="0" rtlCol="0" anchor="t">
            <a:spAutoFit/>
          </a:bodyPr>
          <a:lstStyle/>
          <a:p>
            <a:pPr algn="l" indent="0" marL="0">
              <a:buNone/>
            </a:pPr>
            <a:r>
              <a:rPr lang="en-US" sz="1200" b="1" dirty="0">
                <a:solidFill>
                  <a:srgbClr val="064E3B"/>
                </a:solidFill>
                <a:latin typeface="Inter" pitchFamily="34" charset="0"/>
                <a:ea typeface="Inter" pitchFamily="34" charset="-122"/>
                <a:cs typeface="Inter" pitchFamily="34" charset="-120"/>
              </a:rPr>
              <a:t>Axios</a:t>
            </a:r>
            <a:endParaRPr lang="en-US" sz="1200" dirty="0"/>
          </a:p>
        </p:txBody>
      </p:sp>
      <p:sp>
        <p:nvSpPr>
          <p:cNvPr id="24" name="Text 16"/>
          <p:cNvSpPr/>
          <p:nvPr/>
        </p:nvSpPr>
        <p:spPr>
          <a:xfrm>
            <a:off x="571500" y="4171950"/>
            <a:ext cx="2476481"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Seamless REST API integration for real-time data fetching and updates.</a:t>
            </a:r>
            <a:endParaRPr lang="en-US" sz="850" dirty="0"/>
          </a:p>
        </p:txBody>
      </p:sp>
      <p:sp>
        <p:nvSpPr>
          <p:cNvPr id="25" name="Text 17"/>
          <p:cNvSpPr/>
          <p:nvPr/>
        </p:nvSpPr>
        <p:spPr>
          <a:xfrm>
            <a:off x="3333731" y="3057525"/>
            <a:ext cx="1060847" cy="121444"/>
          </a:xfrm>
          <a:prstGeom prst="rect">
            <a:avLst/>
          </a:prstGeom>
          <a:noFill/>
          <a:ln/>
        </p:spPr>
        <p:txBody>
          <a:bodyPr wrap="none" lIns="0" tIns="0" rIns="0" bIns="0" rtlCol="0" anchor="t">
            <a:spAutoFit/>
          </a:bodyPr>
          <a:lstStyle/>
          <a:p>
            <a:pPr algn="l" indent="0" marL="0">
              <a:buNone/>
            </a:pPr>
            <a:r>
              <a:rPr lang="en-US" sz="700" spc="1" kern="0" dirty="0">
                <a:solidFill>
                  <a:srgbClr val="064E3B"/>
                </a:solidFill>
                <a:latin typeface="Inter" pitchFamily="34" charset="0"/>
                <a:ea typeface="Inter" pitchFamily="34" charset="-122"/>
                <a:cs typeface="Inter" pitchFamily="34" charset="-120"/>
              </a:rPr>
              <a:t>VERSION CONTROL</a:t>
            </a:r>
            <a:endParaRPr lang="en-US" sz="700" dirty="0"/>
          </a:p>
        </p:txBody>
      </p:sp>
      <p:sp>
        <p:nvSpPr>
          <p:cNvPr id="26" name="Shape 18"/>
          <p:cNvSpPr/>
          <p:nvPr/>
        </p:nvSpPr>
        <p:spPr>
          <a:xfrm>
            <a:off x="3333731" y="3214688"/>
            <a:ext cx="571500" cy="571500"/>
          </a:xfrm>
          <a:prstGeom prst="rect">
            <a:avLst/>
          </a:prstGeom>
          <a:solidFill>
            <a:srgbClr val="A7F3D0"/>
          </a:solidFill>
          <a:ln/>
        </p:spPr>
      </p:sp>
      <p:pic>
        <p:nvPicPr>
          <p:cNvPr id="27" name="Image 5" descr="preencoded.png">    </p:cNvPr>
          <p:cNvPicPr>
            <a:picLocks noChangeAspect="1"/>
          </p:cNvPicPr>
          <p:nvPr/>
        </p:nvPicPr>
        <p:blipFill>
          <a:blip r:embed="rId6"/>
          <a:stretch>
            <a:fillRect/>
          </a:stretch>
        </p:blipFill>
        <p:spPr>
          <a:xfrm>
            <a:off x="3481071" y="3357563"/>
            <a:ext cx="276820" cy="285750"/>
          </a:xfrm>
          <a:prstGeom prst="rect">
            <a:avLst/>
          </a:prstGeom>
        </p:spPr>
      </p:pic>
      <p:sp>
        <p:nvSpPr>
          <p:cNvPr id="28" name="Text 19"/>
          <p:cNvSpPr/>
          <p:nvPr/>
        </p:nvSpPr>
        <p:spPr>
          <a:xfrm>
            <a:off x="3333731" y="3893344"/>
            <a:ext cx="991195" cy="207169"/>
          </a:xfrm>
          <a:prstGeom prst="rect">
            <a:avLst/>
          </a:prstGeom>
          <a:noFill/>
          <a:ln/>
        </p:spPr>
        <p:txBody>
          <a:bodyPr wrap="none" lIns="0" tIns="0" rIns="0" bIns="0" rtlCol="0" anchor="t">
            <a:spAutoFit/>
          </a:bodyPr>
          <a:lstStyle/>
          <a:p>
            <a:pPr algn="l" indent="0" marL="0">
              <a:buNone/>
            </a:pPr>
            <a:r>
              <a:rPr lang="en-US" sz="1200" b="1" dirty="0">
                <a:solidFill>
                  <a:srgbClr val="064E3B"/>
                </a:solidFill>
                <a:latin typeface="Inter" pitchFamily="34" charset="0"/>
                <a:ea typeface="Inter" pitchFamily="34" charset="-122"/>
                <a:cs typeface="Inter" pitchFamily="34" charset="-120"/>
              </a:rPr>
              <a:t>Git &amp; GitHub</a:t>
            </a:r>
            <a:endParaRPr lang="en-US" sz="1200" dirty="0"/>
          </a:p>
        </p:txBody>
      </p:sp>
      <p:sp>
        <p:nvSpPr>
          <p:cNvPr id="29" name="Text 20"/>
          <p:cNvSpPr/>
          <p:nvPr/>
        </p:nvSpPr>
        <p:spPr>
          <a:xfrm>
            <a:off x="3333731" y="4171950"/>
            <a:ext cx="2476509"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Collaborative development and version tracking for project stability.</a:t>
            </a:r>
            <a:endParaRPr lang="en-US" sz="850" dirty="0"/>
          </a:p>
        </p:txBody>
      </p:sp>
      <p:sp>
        <p:nvSpPr>
          <p:cNvPr id="30" name="Text 21"/>
          <p:cNvSpPr/>
          <p:nvPr/>
        </p:nvSpPr>
        <p:spPr>
          <a:xfrm>
            <a:off x="6095991" y="3057525"/>
            <a:ext cx="857250" cy="121444"/>
          </a:xfrm>
          <a:prstGeom prst="rect">
            <a:avLst/>
          </a:prstGeom>
          <a:noFill/>
          <a:ln/>
        </p:spPr>
        <p:txBody>
          <a:bodyPr wrap="none" lIns="0" tIns="0" rIns="0" bIns="0" rtlCol="0" anchor="t">
            <a:spAutoFit/>
          </a:bodyPr>
          <a:lstStyle/>
          <a:p>
            <a:pPr algn="l" indent="0" marL="0">
              <a:buNone/>
            </a:pPr>
            <a:r>
              <a:rPr lang="en-US" sz="700" spc="1" kern="0" dirty="0">
                <a:solidFill>
                  <a:srgbClr val="064E3B"/>
                </a:solidFill>
                <a:latin typeface="Inter" pitchFamily="34" charset="0"/>
                <a:ea typeface="Inter" pitchFamily="34" charset="-122"/>
                <a:cs typeface="Inter" pitchFamily="34" charset="-120"/>
              </a:rPr>
              <a:t>NOTIFICATIONS</a:t>
            </a:r>
            <a:endParaRPr lang="en-US" sz="700" dirty="0"/>
          </a:p>
        </p:txBody>
      </p:sp>
      <p:sp>
        <p:nvSpPr>
          <p:cNvPr id="31" name="Shape 22"/>
          <p:cNvSpPr/>
          <p:nvPr/>
        </p:nvSpPr>
        <p:spPr>
          <a:xfrm>
            <a:off x="6095991" y="3214688"/>
            <a:ext cx="571500" cy="571500"/>
          </a:xfrm>
          <a:prstGeom prst="rect">
            <a:avLst/>
          </a:prstGeom>
          <a:solidFill>
            <a:srgbClr val="A7F3D0"/>
          </a:solidFill>
          <a:ln/>
        </p:spPr>
      </p:sp>
      <p:pic>
        <p:nvPicPr>
          <p:cNvPr id="32" name="Image 6" descr="preencoded.png">    </p:cNvPr>
          <p:cNvPicPr>
            <a:picLocks noChangeAspect="1"/>
          </p:cNvPicPr>
          <p:nvPr/>
        </p:nvPicPr>
        <p:blipFill>
          <a:blip r:embed="rId7"/>
          <a:stretch>
            <a:fillRect/>
          </a:stretch>
        </p:blipFill>
        <p:spPr>
          <a:xfrm>
            <a:off x="6256725" y="3357563"/>
            <a:ext cx="250031" cy="285750"/>
          </a:xfrm>
          <a:prstGeom prst="rect">
            <a:avLst/>
          </a:prstGeom>
        </p:spPr>
      </p:pic>
      <p:sp>
        <p:nvSpPr>
          <p:cNvPr id="33" name="Text 23"/>
          <p:cNvSpPr/>
          <p:nvPr/>
        </p:nvSpPr>
        <p:spPr>
          <a:xfrm>
            <a:off x="6095991" y="3893344"/>
            <a:ext cx="1289447" cy="207169"/>
          </a:xfrm>
          <a:prstGeom prst="rect">
            <a:avLst/>
          </a:prstGeom>
          <a:noFill/>
          <a:ln/>
        </p:spPr>
        <p:txBody>
          <a:bodyPr wrap="square" lIns="0" tIns="0" rIns="0" bIns="0" rtlCol="0" anchor="t">
            <a:spAutoFit/>
          </a:bodyPr>
          <a:lstStyle/>
          <a:p>
            <a:pPr algn="l" indent="0" marL="0">
              <a:buNone/>
            </a:pPr>
            <a:r>
              <a:rPr lang="en-US" sz="1200" b="1" dirty="0">
                <a:solidFill>
                  <a:srgbClr val="064E3B"/>
                </a:solidFill>
                <a:latin typeface="Inter" pitchFamily="34" charset="0"/>
                <a:ea typeface="Inter" pitchFamily="34" charset="-122"/>
                <a:cs typeface="Inter" pitchFamily="34" charset="-120"/>
              </a:rPr>
              <a:t>React Hot Toast</a:t>
            </a:r>
            <a:endParaRPr lang="en-US" sz="1200" dirty="0"/>
          </a:p>
        </p:txBody>
      </p:sp>
      <p:sp>
        <p:nvSpPr>
          <p:cNvPr id="34" name="Text 24"/>
          <p:cNvSpPr/>
          <p:nvPr/>
        </p:nvSpPr>
        <p:spPr>
          <a:xfrm>
            <a:off x="6095991" y="4171950"/>
            <a:ext cx="2476481"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Real-time feedback and status alerts for user interactions.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57200"/>
          </a:xfrm>
          <a:prstGeom prst="rect">
            <a:avLst/>
          </a:prstGeom>
          <a:noFill/>
          <a:ln/>
        </p:spPr>
        <p:txBody>
          <a:bodyPr wrap="square" lIns="0" tIns="0" rIns="0" bIns="0" rtlCol="0" anchor="t">
            <a:spAutoFit/>
          </a:bodyPr>
          <a:lstStyle/>
          <a:p>
            <a:pPr algn="l" indent="0" marL="0">
              <a:buNone/>
            </a:pPr>
            <a:r>
              <a:rPr lang="en-US" sz="2450" b="1" dirty="0">
                <a:solidFill>
                  <a:srgbClr val="064E3B"/>
                </a:solidFill>
                <a:latin typeface="Playfair Display Bold" pitchFamily="34" charset="0"/>
                <a:ea typeface="Playfair Display Bold" pitchFamily="34" charset="-122"/>
                <a:cs typeface="Playfair Display Bold" pitchFamily="34" charset="-120"/>
              </a:rPr>
              <a:t>System Architecture</a:t>
            </a:r>
            <a:endParaRPr lang="en-US" sz="2450" dirty="0"/>
          </a:p>
        </p:txBody>
      </p:sp>
      <p:pic>
        <p:nvPicPr>
          <p:cNvPr id="5" name="Image 1" descr="preencoded.png">    </p:cNvPr>
          <p:cNvPicPr>
            <a:picLocks noChangeAspect="1"/>
          </p:cNvPicPr>
          <p:nvPr/>
        </p:nvPicPr>
        <p:blipFill>
          <a:blip r:embed="rId2"/>
          <a:stretch>
            <a:fillRect/>
          </a:stretch>
        </p:blipFill>
        <p:spPr>
          <a:xfrm>
            <a:off x="1372465" y="1571625"/>
            <a:ext cx="571500" cy="457200"/>
          </a:xfrm>
          <a:prstGeom prst="rect">
            <a:avLst/>
          </a:prstGeom>
        </p:spPr>
      </p:pic>
      <p:sp>
        <p:nvSpPr>
          <p:cNvPr id="6" name="Text 1"/>
          <p:cNvSpPr/>
          <p:nvPr/>
        </p:nvSpPr>
        <p:spPr>
          <a:xfrm>
            <a:off x="571500" y="2225278"/>
            <a:ext cx="2173458" cy="207169"/>
          </a:xfrm>
          <a:prstGeom prst="rect">
            <a:avLst/>
          </a:prstGeom>
          <a:noFill/>
          <a:ln/>
        </p:spPr>
        <p:txBody>
          <a:bodyPr wrap="square" lIns="0" tIns="0" rIns="0" bIns="0" rtlCol="0" anchor="t">
            <a:spAutoFit/>
          </a:bodyPr>
          <a:lstStyle/>
          <a:p>
            <a:pPr algn="ctr" indent="0" marL="0">
              <a:buNone/>
            </a:pPr>
            <a:r>
              <a:rPr lang="en-US" sz="1200" b="1" dirty="0">
                <a:solidFill>
                  <a:srgbClr val="064E3B"/>
                </a:solidFill>
                <a:latin typeface="Inter Medium" pitchFamily="34" charset="0"/>
                <a:ea typeface="Inter Medium" pitchFamily="34" charset="-122"/>
                <a:cs typeface="Inter Medium" pitchFamily="34" charset="-120"/>
              </a:rPr>
              <a:t>Frontend SPA</a:t>
            </a:r>
            <a:endParaRPr lang="en-US" sz="1200" dirty="0"/>
          </a:p>
        </p:txBody>
      </p:sp>
      <p:sp>
        <p:nvSpPr>
          <p:cNvPr id="7" name="Text 2"/>
          <p:cNvSpPr/>
          <p:nvPr/>
        </p:nvSpPr>
        <p:spPr>
          <a:xfrm>
            <a:off x="571500" y="2539603"/>
            <a:ext cx="2173458" cy="514350"/>
          </a:xfrm>
          <a:prstGeom prst="rect">
            <a:avLst/>
          </a:prstGeom>
          <a:noFill/>
          <a:ln/>
        </p:spPr>
        <p:txBody>
          <a:bodyPr wrap="square" lIns="0" tIns="0" rIns="0" bIns="0" rtlCol="0" anchor="t">
            <a:spAutoFit/>
          </a:bodyPr>
          <a:lstStyle/>
          <a:p>
            <a:pPr algn="ctr" indent="0" marL="0">
              <a:lnSpc>
                <a:spcPct val="120000"/>
              </a:lnSpc>
              <a:buNone/>
            </a:pPr>
            <a:r>
              <a:rPr lang="en-US" sz="850" dirty="0">
                <a:solidFill>
                  <a:srgbClr val="475569"/>
                </a:solidFill>
                <a:latin typeface="Inter" pitchFamily="34" charset="0"/>
                <a:ea typeface="Inter" pitchFamily="34" charset="-122"/>
                <a:cs typeface="Inter" pitchFamily="34" charset="-120"/>
              </a:rPr>
              <a:t>React.js Application</a:t>
            </a:r>
            <a:r>
              <a:rPr lang="en-US" sz="850" dirty="0">
                <a:solidFill>
                  <a:srgbClr val="475569"/>
                </a:solidFill>
                <a:latin typeface="Inter" pitchFamily="34" charset="0"/>
                <a:ea typeface="Inter" pitchFamily="34" charset="-122"/>
                <a:cs typeface="Inter" pitchFamily="34" charset="-120"/>
              </a:rPr>
              <a:t>
</a:t>
            </a:r>
            <a:r>
              <a:rPr lang="en-US" sz="850" dirty="0">
                <a:solidFill>
                  <a:srgbClr val="475569"/>
                </a:solidFill>
                <a:latin typeface="Inter" pitchFamily="34" charset="0"/>
                <a:ea typeface="Inter" pitchFamily="34" charset="-122"/>
                <a:cs typeface="Inter" pitchFamily="34" charset="-120"/>
              </a:rPr>
              <a:t>Context API State Management</a:t>
            </a:r>
            <a:r>
              <a:rPr lang="en-US" sz="850" dirty="0">
                <a:solidFill>
                  <a:srgbClr val="475569"/>
                </a:solidFill>
                <a:latin typeface="Inter" pitchFamily="34" charset="0"/>
                <a:ea typeface="Inter" pitchFamily="34" charset="-122"/>
                <a:cs typeface="Inter" pitchFamily="34" charset="-120"/>
              </a:rPr>
              <a:t>
</a:t>
            </a:r>
            <a:r>
              <a:rPr lang="en-US" sz="850" dirty="0">
                <a:solidFill>
                  <a:srgbClr val="475569"/>
                </a:solidFill>
                <a:latin typeface="Inter" pitchFamily="34" charset="0"/>
                <a:ea typeface="Inter" pitchFamily="34" charset="-122"/>
                <a:cs typeface="Inter" pitchFamily="34" charset="-120"/>
              </a:rPr>
              <a:t>Axios Client</a:t>
            </a:r>
            <a:endParaRPr lang="en-US" sz="850" dirty="0"/>
          </a:p>
        </p:txBody>
      </p:sp>
      <p:sp>
        <p:nvSpPr>
          <p:cNvPr id="8" name="Text 3"/>
          <p:cNvSpPr/>
          <p:nvPr/>
        </p:nvSpPr>
        <p:spPr>
          <a:xfrm>
            <a:off x="2744958" y="1930598"/>
            <a:ext cx="665624" cy="242888"/>
          </a:xfrm>
          <a:prstGeom prst="rect">
            <a:avLst/>
          </a:prstGeom>
          <a:noFill/>
          <a:ln/>
        </p:spPr>
        <p:txBody>
          <a:bodyPr wrap="none" lIns="0" tIns="0" rIns="0" bIns="0" rtlCol="0" anchor="t">
            <a:spAutoFit/>
          </a:bodyPr>
          <a:lstStyle/>
          <a:p>
            <a:pPr algn="l" indent="0" marL="0">
              <a:buNone/>
            </a:pPr>
            <a:r>
              <a:rPr lang="en-US" sz="750" dirty="0">
                <a:solidFill>
                  <a:srgbClr val="475569"/>
                </a:solidFill>
                <a:latin typeface="Inter Medium" pitchFamily="34" charset="0"/>
                <a:ea typeface="Inter Medium" pitchFamily="34" charset="-122"/>
                <a:cs typeface="Inter Medium" pitchFamily="34" charset="-120"/>
              </a:rPr>
              <a:t>JSON / HTTPS</a:t>
            </a:r>
            <a:endParaRPr lang="en-US" sz="750" dirty="0"/>
          </a:p>
        </p:txBody>
      </p:sp>
      <p:pic>
        <p:nvPicPr>
          <p:cNvPr id="9" name="Image 2" descr="preencoded.png">    </p:cNvPr>
          <p:cNvPicPr>
            <a:picLocks noChangeAspect="1"/>
          </p:cNvPicPr>
          <p:nvPr/>
        </p:nvPicPr>
        <p:blipFill>
          <a:blip r:embed="rId3"/>
          <a:stretch>
            <a:fillRect/>
          </a:stretch>
        </p:blipFill>
        <p:spPr>
          <a:xfrm>
            <a:off x="2963456" y="2209205"/>
            <a:ext cx="228600" cy="228600"/>
          </a:xfrm>
          <a:prstGeom prst="rect">
            <a:avLst/>
          </a:prstGeom>
        </p:spPr>
      </p:pic>
      <p:pic>
        <p:nvPicPr>
          <p:cNvPr id="10" name="Image 3" descr="preencoded.png">    </p:cNvPr>
          <p:cNvPicPr>
            <a:picLocks noChangeAspect="1"/>
          </p:cNvPicPr>
          <p:nvPr/>
        </p:nvPicPr>
        <p:blipFill>
          <a:blip r:embed="rId4"/>
          <a:stretch>
            <a:fillRect/>
          </a:stretch>
        </p:blipFill>
        <p:spPr>
          <a:xfrm>
            <a:off x="4268698" y="1571625"/>
            <a:ext cx="457200" cy="457200"/>
          </a:xfrm>
          <a:prstGeom prst="rect">
            <a:avLst/>
          </a:prstGeom>
        </p:spPr>
      </p:pic>
      <p:sp>
        <p:nvSpPr>
          <p:cNvPr id="11" name="Text 4"/>
          <p:cNvSpPr/>
          <p:nvPr/>
        </p:nvSpPr>
        <p:spPr>
          <a:xfrm>
            <a:off x="3410583" y="2225278"/>
            <a:ext cx="2173458" cy="207169"/>
          </a:xfrm>
          <a:prstGeom prst="rect">
            <a:avLst/>
          </a:prstGeom>
          <a:noFill/>
          <a:ln/>
        </p:spPr>
        <p:txBody>
          <a:bodyPr wrap="square" lIns="0" tIns="0" rIns="0" bIns="0" rtlCol="0" anchor="t">
            <a:spAutoFit/>
          </a:bodyPr>
          <a:lstStyle/>
          <a:p>
            <a:pPr algn="ctr" indent="0" marL="0">
              <a:buNone/>
            </a:pPr>
            <a:r>
              <a:rPr lang="en-US" sz="1200" b="1" dirty="0">
                <a:solidFill>
                  <a:srgbClr val="064E3B"/>
                </a:solidFill>
                <a:latin typeface="Inter Medium" pitchFamily="34" charset="0"/>
                <a:ea typeface="Inter Medium" pitchFamily="34" charset="-122"/>
                <a:cs typeface="Inter Medium" pitchFamily="34" charset="-120"/>
              </a:rPr>
              <a:t>RESTful API</a:t>
            </a:r>
            <a:endParaRPr lang="en-US" sz="1200" dirty="0"/>
          </a:p>
        </p:txBody>
      </p:sp>
      <p:sp>
        <p:nvSpPr>
          <p:cNvPr id="12" name="Text 5"/>
          <p:cNvSpPr/>
          <p:nvPr/>
        </p:nvSpPr>
        <p:spPr>
          <a:xfrm>
            <a:off x="3410583" y="2539603"/>
            <a:ext cx="2173458" cy="514350"/>
          </a:xfrm>
          <a:prstGeom prst="rect">
            <a:avLst/>
          </a:prstGeom>
          <a:noFill/>
          <a:ln/>
        </p:spPr>
        <p:txBody>
          <a:bodyPr wrap="square" lIns="0" tIns="0" rIns="0" bIns="0" rtlCol="0" anchor="t">
            <a:spAutoFit/>
          </a:bodyPr>
          <a:lstStyle/>
          <a:p>
            <a:pPr algn="ctr" indent="0" marL="0">
              <a:lnSpc>
                <a:spcPct val="120000"/>
              </a:lnSpc>
              <a:buNone/>
            </a:pPr>
            <a:r>
              <a:rPr lang="en-US" sz="850" dirty="0">
                <a:solidFill>
                  <a:srgbClr val="475569"/>
                </a:solidFill>
                <a:latin typeface="Inter" pitchFamily="34" charset="0"/>
                <a:ea typeface="Inter" pitchFamily="34" charset="-122"/>
                <a:cs typeface="Inter" pitchFamily="34" charset="-120"/>
              </a:rPr>
              <a:t>RouteMisr E-Commerce API</a:t>
            </a:r>
            <a:r>
              <a:rPr lang="en-US" sz="850" dirty="0">
                <a:solidFill>
                  <a:srgbClr val="475569"/>
                </a:solidFill>
                <a:latin typeface="Inter" pitchFamily="34" charset="0"/>
                <a:ea typeface="Inter" pitchFamily="34" charset="-122"/>
                <a:cs typeface="Inter" pitchFamily="34" charset="-120"/>
              </a:rPr>
              <a:t>
</a:t>
            </a:r>
            <a:r>
              <a:rPr lang="en-US" sz="850" dirty="0">
                <a:solidFill>
                  <a:srgbClr val="475569"/>
                </a:solidFill>
                <a:latin typeface="Inter" pitchFamily="34" charset="0"/>
                <a:ea typeface="Inter" pitchFamily="34" charset="-122"/>
                <a:cs typeface="Inter" pitchFamily="34" charset="-120"/>
              </a:rPr>
              <a:t>Authentication Middleware</a:t>
            </a:r>
            <a:r>
              <a:rPr lang="en-US" sz="850" dirty="0">
                <a:solidFill>
                  <a:srgbClr val="475569"/>
                </a:solidFill>
                <a:latin typeface="Inter" pitchFamily="34" charset="0"/>
                <a:ea typeface="Inter" pitchFamily="34" charset="-122"/>
                <a:cs typeface="Inter" pitchFamily="34" charset="-120"/>
              </a:rPr>
              <a:t>
</a:t>
            </a:r>
            <a:r>
              <a:rPr lang="en-US" sz="850" dirty="0">
                <a:solidFill>
                  <a:srgbClr val="475569"/>
                </a:solidFill>
                <a:latin typeface="Inter" pitchFamily="34" charset="0"/>
                <a:ea typeface="Inter" pitchFamily="34" charset="-122"/>
                <a:cs typeface="Inter" pitchFamily="34" charset="-120"/>
              </a:rPr>
              <a:t>Business Logic</a:t>
            </a:r>
            <a:endParaRPr lang="en-US" sz="850" dirty="0"/>
          </a:p>
        </p:txBody>
      </p:sp>
      <p:sp>
        <p:nvSpPr>
          <p:cNvPr id="13" name="Text 6"/>
          <p:cNvSpPr/>
          <p:nvPr/>
        </p:nvSpPr>
        <p:spPr>
          <a:xfrm>
            <a:off x="5584041" y="1930598"/>
            <a:ext cx="815029" cy="242888"/>
          </a:xfrm>
          <a:prstGeom prst="rect">
            <a:avLst/>
          </a:prstGeom>
          <a:noFill/>
          <a:ln/>
        </p:spPr>
        <p:txBody>
          <a:bodyPr wrap="none" lIns="0" tIns="0" rIns="0" bIns="0" rtlCol="0" anchor="t">
            <a:spAutoFit/>
          </a:bodyPr>
          <a:lstStyle/>
          <a:p>
            <a:pPr algn="l" indent="0" marL="0">
              <a:buNone/>
            </a:pPr>
            <a:r>
              <a:rPr lang="en-US" sz="750" dirty="0">
                <a:solidFill>
                  <a:srgbClr val="475569"/>
                </a:solidFill>
                <a:latin typeface="Inter Medium" pitchFamily="34" charset="0"/>
                <a:ea typeface="Inter Medium" pitchFamily="34" charset="-122"/>
                <a:cs typeface="Inter Medium" pitchFamily="34" charset="-120"/>
              </a:rPr>
              <a:t>Query / Response</a:t>
            </a:r>
            <a:endParaRPr lang="en-US" sz="750" dirty="0"/>
          </a:p>
        </p:txBody>
      </p:sp>
      <p:pic>
        <p:nvPicPr>
          <p:cNvPr id="14" name="Image 4" descr="preencoded.png">    </p:cNvPr>
          <p:cNvPicPr>
            <a:picLocks noChangeAspect="1"/>
          </p:cNvPicPr>
          <p:nvPr/>
        </p:nvPicPr>
        <p:blipFill>
          <a:blip r:embed="rId5"/>
          <a:stretch>
            <a:fillRect/>
          </a:stretch>
        </p:blipFill>
        <p:spPr>
          <a:xfrm>
            <a:off x="5891529" y="2209205"/>
            <a:ext cx="200025" cy="228600"/>
          </a:xfrm>
          <a:prstGeom prst="rect">
            <a:avLst/>
          </a:prstGeom>
        </p:spPr>
      </p:pic>
      <p:pic>
        <p:nvPicPr>
          <p:cNvPr id="15" name="Image 5" descr="preencoded.png">    </p:cNvPr>
          <p:cNvPicPr>
            <a:picLocks noChangeAspect="1"/>
          </p:cNvPicPr>
          <p:nvPr/>
        </p:nvPicPr>
        <p:blipFill>
          <a:blip r:embed="rId6"/>
          <a:stretch>
            <a:fillRect/>
          </a:stretch>
        </p:blipFill>
        <p:spPr>
          <a:xfrm>
            <a:off x="7257185" y="1571625"/>
            <a:ext cx="457200" cy="457200"/>
          </a:xfrm>
          <a:prstGeom prst="rect">
            <a:avLst/>
          </a:prstGeom>
        </p:spPr>
      </p:pic>
      <p:sp>
        <p:nvSpPr>
          <p:cNvPr id="16" name="Text 7"/>
          <p:cNvSpPr/>
          <p:nvPr/>
        </p:nvSpPr>
        <p:spPr>
          <a:xfrm>
            <a:off x="6399070" y="2225278"/>
            <a:ext cx="2173458" cy="207169"/>
          </a:xfrm>
          <a:prstGeom prst="rect">
            <a:avLst/>
          </a:prstGeom>
          <a:noFill/>
          <a:ln/>
        </p:spPr>
        <p:txBody>
          <a:bodyPr wrap="square" lIns="0" tIns="0" rIns="0" bIns="0" rtlCol="0" anchor="t">
            <a:spAutoFit/>
          </a:bodyPr>
          <a:lstStyle/>
          <a:p>
            <a:pPr algn="ctr" indent="0" marL="0">
              <a:buNone/>
            </a:pPr>
            <a:r>
              <a:rPr lang="en-US" sz="1200" b="1" dirty="0">
                <a:solidFill>
                  <a:srgbClr val="064E3B"/>
                </a:solidFill>
                <a:latin typeface="Inter Medium" pitchFamily="34" charset="0"/>
                <a:ea typeface="Inter Medium" pitchFamily="34" charset="-122"/>
                <a:cs typeface="Inter Medium" pitchFamily="34" charset="-120"/>
              </a:rPr>
              <a:t>Database</a:t>
            </a:r>
            <a:endParaRPr lang="en-US" sz="1200" dirty="0"/>
          </a:p>
        </p:txBody>
      </p:sp>
      <p:sp>
        <p:nvSpPr>
          <p:cNvPr id="17" name="Text 8"/>
          <p:cNvSpPr/>
          <p:nvPr/>
        </p:nvSpPr>
        <p:spPr>
          <a:xfrm>
            <a:off x="6399070" y="2539603"/>
            <a:ext cx="2173458" cy="514350"/>
          </a:xfrm>
          <a:prstGeom prst="rect">
            <a:avLst/>
          </a:prstGeom>
          <a:noFill/>
          <a:ln/>
        </p:spPr>
        <p:txBody>
          <a:bodyPr wrap="square" lIns="0" tIns="0" rIns="0" bIns="0" rtlCol="0" anchor="t">
            <a:spAutoFit/>
          </a:bodyPr>
          <a:lstStyle/>
          <a:p>
            <a:pPr algn="ctr" indent="0" marL="0">
              <a:lnSpc>
                <a:spcPct val="120000"/>
              </a:lnSpc>
              <a:buNone/>
            </a:pPr>
            <a:r>
              <a:rPr lang="en-US" sz="850" dirty="0">
                <a:solidFill>
                  <a:srgbClr val="475569"/>
                </a:solidFill>
                <a:latin typeface="Inter" pitchFamily="34" charset="0"/>
                <a:ea typeface="Inter" pitchFamily="34" charset="-122"/>
                <a:cs typeface="Inter" pitchFamily="34" charset="-120"/>
              </a:rPr>
              <a:t>Product Catalog</a:t>
            </a:r>
            <a:r>
              <a:rPr lang="en-US" sz="850" dirty="0">
                <a:solidFill>
                  <a:srgbClr val="475569"/>
                </a:solidFill>
                <a:latin typeface="Inter" pitchFamily="34" charset="0"/>
                <a:ea typeface="Inter" pitchFamily="34" charset="-122"/>
                <a:cs typeface="Inter" pitchFamily="34" charset="-120"/>
              </a:rPr>
              <a:t>
</a:t>
            </a:r>
            <a:r>
              <a:rPr lang="en-US" sz="850" dirty="0">
                <a:solidFill>
                  <a:srgbClr val="475569"/>
                </a:solidFill>
                <a:latin typeface="Inter" pitchFamily="34" charset="0"/>
                <a:ea typeface="Inter" pitchFamily="34" charset="-122"/>
                <a:cs typeface="Inter" pitchFamily="34" charset="-120"/>
              </a:rPr>
              <a:t>User Credentials</a:t>
            </a:r>
            <a:r>
              <a:rPr lang="en-US" sz="850" dirty="0">
                <a:solidFill>
                  <a:srgbClr val="475569"/>
                </a:solidFill>
                <a:latin typeface="Inter" pitchFamily="34" charset="0"/>
                <a:ea typeface="Inter" pitchFamily="34" charset="-122"/>
                <a:cs typeface="Inter" pitchFamily="34" charset="-120"/>
              </a:rPr>
              <a:t>
</a:t>
            </a:r>
            <a:r>
              <a:rPr lang="en-US" sz="850" dirty="0">
                <a:solidFill>
                  <a:srgbClr val="475569"/>
                </a:solidFill>
                <a:latin typeface="Inter" pitchFamily="34" charset="0"/>
                <a:ea typeface="Inter" pitchFamily="34" charset="-122"/>
                <a:cs typeface="Inter" pitchFamily="34" charset="-120"/>
              </a:rPr>
              <a:t>Order History</a:t>
            </a:r>
            <a:endParaRPr lang="en-US" sz="850" dirty="0"/>
          </a:p>
        </p:txBody>
      </p:sp>
      <p:sp>
        <p:nvSpPr>
          <p:cNvPr id="18" name="Text 9"/>
          <p:cNvSpPr/>
          <p:nvPr/>
        </p:nvSpPr>
        <p:spPr>
          <a:xfrm>
            <a:off x="735806" y="3482578"/>
            <a:ext cx="1835944" cy="121444"/>
          </a:xfrm>
          <a:prstGeom prst="rect">
            <a:avLst/>
          </a:prstGeom>
          <a:noFill/>
          <a:ln/>
        </p:spPr>
        <p:txBody>
          <a:bodyPr wrap="square" lIns="0" tIns="0" rIns="0" bIns="0" rtlCol="0" anchor="t">
            <a:spAutoFit/>
          </a:bodyPr>
          <a:lstStyle/>
          <a:p>
            <a:pPr algn="l" indent="0" marL="0">
              <a:buNone/>
            </a:pPr>
            <a:r>
              <a:rPr lang="en-US" sz="700" b="1" dirty="0">
                <a:solidFill>
                  <a:srgbClr val="064E3B"/>
                </a:solidFill>
                <a:latin typeface="Inter Medium" pitchFamily="34" charset="0"/>
                <a:ea typeface="Inter Medium" pitchFamily="34" charset="-122"/>
                <a:cs typeface="Inter Medium" pitchFamily="34" charset="-120"/>
              </a:rPr>
              <a:t>STEP 01</a:t>
            </a:r>
            <a:endParaRPr lang="en-US" sz="700" dirty="0"/>
          </a:p>
        </p:txBody>
      </p:sp>
      <p:sp>
        <p:nvSpPr>
          <p:cNvPr id="19" name="Text 10"/>
          <p:cNvSpPr/>
          <p:nvPr/>
        </p:nvSpPr>
        <p:spPr>
          <a:xfrm>
            <a:off x="735806" y="3639741"/>
            <a:ext cx="1835944"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475569"/>
                </a:solidFill>
                <a:latin typeface="Inter" pitchFamily="34" charset="0"/>
                <a:ea typeface="Inter" pitchFamily="34" charset="-122"/>
                <a:cs typeface="Inter" pitchFamily="34" charset="-120"/>
              </a:rPr>
              <a:t>User interacts with React UI components.</a:t>
            </a:r>
            <a:endParaRPr lang="en-US" sz="850" dirty="0"/>
          </a:p>
        </p:txBody>
      </p:sp>
      <p:sp>
        <p:nvSpPr>
          <p:cNvPr id="20" name="Text 11"/>
          <p:cNvSpPr/>
          <p:nvPr/>
        </p:nvSpPr>
        <p:spPr>
          <a:xfrm>
            <a:off x="2736056" y="3482578"/>
            <a:ext cx="1835944" cy="121444"/>
          </a:xfrm>
          <a:prstGeom prst="rect">
            <a:avLst/>
          </a:prstGeom>
          <a:noFill/>
          <a:ln/>
        </p:spPr>
        <p:txBody>
          <a:bodyPr wrap="square" lIns="0" tIns="0" rIns="0" bIns="0" rtlCol="0" anchor="t">
            <a:spAutoFit/>
          </a:bodyPr>
          <a:lstStyle/>
          <a:p>
            <a:pPr algn="l" indent="0" marL="0">
              <a:buNone/>
            </a:pPr>
            <a:r>
              <a:rPr lang="en-US" sz="700" b="1" dirty="0">
                <a:solidFill>
                  <a:srgbClr val="064E3B"/>
                </a:solidFill>
                <a:latin typeface="Inter Medium" pitchFamily="34" charset="0"/>
                <a:ea typeface="Inter Medium" pitchFamily="34" charset="-122"/>
                <a:cs typeface="Inter Medium" pitchFamily="34" charset="-120"/>
              </a:rPr>
              <a:t>STEP 02</a:t>
            </a:r>
            <a:endParaRPr lang="en-US" sz="700" dirty="0"/>
          </a:p>
        </p:txBody>
      </p:sp>
      <p:sp>
        <p:nvSpPr>
          <p:cNvPr id="21" name="Text 12"/>
          <p:cNvSpPr/>
          <p:nvPr/>
        </p:nvSpPr>
        <p:spPr>
          <a:xfrm>
            <a:off x="2736056" y="3639741"/>
            <a:ext cx="1835944"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475569"/>
                </a:solidFill>
                <a:latin typeface="Inter" pitchFamily="34" charset="0"/>
                <a:ea typeface="Inter" pitchFamily="34" charset="-122"/>
                <a:cs typeface="Inter" pitchFamily="34" charset="-120"/>
              </a:rPr>
              <a:t>Axios sends asynchronous requests to the API.</a:t>
            </a:r>
            <a:endParaRPr lang="en-US" sz="850" dirty="0"/>
          </a:p>
        </p:txBody>
      </p:sp>
      <p:sp>
        <p:nvSpPr>
          <p:cNvPr id="22" name="Text 13"/>
          <p:cNvSpPr/>
          <p:nvPr/>
        </p:nvSpPr>
        <p:spPr>
          <a:xfrm>
            <a:off x="4736306" y="3482578"/>
            <a:ext cx="1835944" cy="121444"/>
          </a:xfrm>
          <a:prstGeom prst="rect">
            <a:avLst/>
          </a:prstGeom>
          <a:noFill/>
          <a:ln/>
        </p:spPr>
        <p:txBody>
          <a:bodyPr wrap="square" lIns="0" tIns="0" rIns="0" bIns="0" rtlCol="0" anchor="t">
            <a:spAutoFit/>
          </a:bodyPr>
          <a:lstStyle/>
          <a:p>
            <a:pPr algn="l" indent="0" marL="0">
              <a:buNone/>
            </a:pPr>
            <a:r>
              <a:rPr lang="en-US" sz="700" b="1" dirty="0">
                <a:solidFill>
                  <a:srgbClr val="064E3B"/>
                </a:solidFill>
                <a:latin typeface="Inter Medium" pitchFamily="34" charset="0"/>
                <a:ea typeface="Inter Medium" pitchFamily="34" charset="-122"/>
                <a:cs typeface="Inter Medium" pitchFamily="34" charset="-120"/>
              </a:rPr>
              <a:t>STEP 03</a:t>
            </a:r>
            <a:endParaRPr lang="en-US" sz="700" dirty="0"/>
          </a:p>
        </p:txBody>
      </p:sp>
      <p:sp>
        <p:nvSpPr>
          <p:cNvPr id="23" name="Text 14"/>
          <p:cNvSpPr/>
          <p:nvPr/>
        </p:nvSpPr>
        <p:spPr>
          <a:xfrm>
            <a:off x="4736306" y="3639741"/>
            <a:ext cx="1835944"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475569"/>
                </a:solidFill>
                <a:latin typeface="Inter" pitchFamily="34" charset="0"/>
                <a:ea typeface="Inter" pitchFamily="34" charset="-122"/>
                <a:cs typeface="Inter" pitchFamily="34" charset="-120"/>
              </a:rPr>
              <a:t>API processes data and returns JSON response.</a:t>
            </a:r>
            <a:endParaRPr lang="en-US" sz="850" dirty="0"/>
          </a:p>
        </p:txBody>
      </p:sp>
      <p:sp>
        <p:nvSpPr>
          <p:cNvPr id="24" name="Text 15"/>
          <p:cNvSpPr/>
          <p:nvPr/>
        </p:nvSpPr>
        <p:spPr>
          <a:xfrm>
            <a:off x="6736556" y="3482578"/>
            <a:ext cx="1835944" cy="121444"/>
          </a:xfrm>
          <a:prstGeom prst="rect">
            <a:avLst/>
          </a:prstGeom>
          <a:noFill/>
          <a:ln/>
        </p:spPr>
        <p:txBody>
          <a:bodyPr wrap="square" lIns="0" tIns="0" rIns="0" bIns="0" rtlCol="0" anchor="t">
            <a:spAutoFit/>
          </a:bodyPr>
          <a:lstStyle/>
          <a:p>
            <a:pPr algn="l" indent="0" marL="0">
              <a:buNone/>
            </a:pPr>
            <a:r>
              <a:rPr lang="en-US" sz="700" b="1" dirty="0">
                <a:solidFill>
                  <a:srgbClr val="064E3B"/>
                </a:solidFill>
                <a:latin typeface="Inter Medium" pitchFamily="34" charset="0"/>
                <a:ea typeface="Inter Medium" pitchFamily="34" charset="-122"/>
                <a:cs typeface="Inter Medium" pitchFamily="34" charset="-120"/>
              </a:rPr>
              <a:t>STEP 04</a:t>
            </a:r>
            <a:endParaRPr lang="en-US" sz="700" dirty="0"/>
          </a:p>
        </p:txBody>
      </p:sp>
      <p:sp>
        <p:nvSpPr>
          <p:cNvPr id="25" name="Text 16"/>
          <p:cNvSpPr/>
          <p:nvPr/>
        </p:nvSpPr>
        <p:spPr>
          <a:xfrm>
            <a:off x="6736556" y="3639741"/>
            <a:ext cx="1835944"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475569"/>
                </a:solidFill>
                <a:latin typeface="Inter" pitchFamily="34" charset="0"/>
                <a:ea typeface="Inter" pitchFamily="34" charset="-122"/>
                <a:cs typeface="Inter" pitchFamily="34" charset="-120"/>
              </a:rPr>
              <a:t>Context API updates state and re-renders UI.</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62364"/>
          </a:xfrm>
          <a:prstGeom prst="rect">
            <a:avLst/>
          </a:prstGeom>
        </p:spPr>
      </p:pic>
      <p:sp>
        <p:nvSpPr>
          <p:cNvPr id="4" name="Text 0"/>
          <p:cNvSpPr/>
          <p:nvPr/>
        </p:nvSpPr>
        <p:spPr>
          <a:xfrm>
            <a:off x="571500" y="428625"/>
            <a:ext cx="8572500" cy="457200"/>
          </a:xfrm>
          <a:prstGeom prst="rect">
            <a:avLst/>
          </a:prstGeom>
          <a:noFill/>
          <a:ln/>
        </p:spPr>
        <p:txBody>
          <a:bodyPr wrap="square" lIns="0" tIns="0" rIns="0" bIns="0" rtlCol="0" anchor="t">
            <a:spAutoFit/>
          </a:bodyPr>
          <a:lstStyle/>
          <a:p>
            <a:pPr algn="l" indent="0" marL="0">
              <a:buNone/>
            </a:pPr>
            <a:r>
              <a:rPr lang="en-US" sz="2450" b="1" dirty="0">
                <a:solidFill>
                  <a:srgbClr val="064E3B"/>
                </a:solidFill>
                <a:latin typeface="Playfair Display Bold" pitchFamily="34" charset="0"/>
                <a:ea typeface="Playfair Display Bold" pitchFamily="34" charset="-122"/>
                <a:cs typeface="Playfair Display Bold" pitchFamily="34" charset="-120"/>
              </a:rPr>
              <a:t>User Interface &amp; UX Design</a:t>
            </a:r>
            <a:endParaRPr lang="en-US" sz="2450" dirty="0"/>
          </a:p>
        </p:txBody>
      </p:sp>
      <p:sp>
        <p:nvSpPr>
          <p:cNvPr id="5" name="Text 1"/>
          <p:cNvSpPr/>
          <p:nvPr/>
        </p:nvSpPr>
        <p:spPr>
          <a:xfrm>
            <a:off x="571500" y="1471613"/>
            <a:ext cx="2476481" cy="266105"/>
          </a:xfrm>
          <a:prstGeom prst="rect">
            <a:avLst/>
          </a:prstGeom>
          <a:noFill/>
          <a:ln/>
        </p:spPr>
        <p:txBody>
          <a:bodyPr wrap="square" lIns="0" tIns="0" rIns="0" bIns="0" rtlCol="0" anchor="t">
            <a:spAutoFit/>
          </a:bodyPr>
          <a:lstStyle/>
          <a:p>
            <a:pPr algn="l" indent="0" marL="0">
              <a:buNone/>
            </a:pPr>
            <a:r>
              <a:rPr lang="en-US" sz="1500" dirty="0">
                <a:solidFill>
                  <a:srgbClr val="064E3B"/>
                </a:solidFill>
                <a:latin typeface="Playfair Display Bold" pitchFamily="34" charset="0"/>
                <a:ea typeface="Playfair Display Bold" pitchFamily="34" charset="-122"/>
                <a:cs typeface="Playfair Display Bold" pitchFamily="34" charset="-120"/>
              </a:rPr>
              <a:t>Visual Identity</a:t>
            </a:r>
            <a:endParaRPr lang="en-US" sz="1500" dirty="0"/>
          </a:p>
        </p:txBody>
      </p:sp>
      <p:sp>
        <p:nvSpPr>
          <p:cNvPr id="6" name="Text 2"/>
          <p:cNvSpPr/>
          <p:nvPr/>
        </p:nvSpPr>
        <p:spPr>
          <a:xfrm>
            <a:off x="571500" y="1844873"/>
            <a:ext cx="2476481" cy="731453"/>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475569"/>
                </a:solidFill>
                <a:latin typeface="Inter Light" pitchFamily="34" charset="0"/>
                <a:ea typeface="Inter Light" pitchFamily="34" charset="-122"/>
                <a:cs typeface="Inter Light" pitchFamily="34" charset="-120"/>
              </a:rPr>
              <a:t>A professional </a:t>
            </a:r>
            <a:r>
              <a:rPr lang="en-US" sz="800" dirty="0">
                <a:solidFill>
                  <a:srgbClr val="064E3B"/>
                </a:solidFill>
                <a:latin typeface="Inter SemiBold" pitchFamily="34" charset="0"/>
                <a:ea typeface="Inter SemiBold" pitchFamily="34" charset="-122"/>
                <a:cs typeface="Inter SemiBold" pitchFamily="34" charset="-120"/>
              </a:rPr>
              <a:t>Green and White</a:t>
            </a:r>
            <a:r>
              <a:rPr lang="en-US" sz="850" dirty="0">
                <a:solidFill>
                  <a:srgbClr val="475569"/>
                </a:solidFill>
                <a:latin typeface="Inter Light" pitchFamily="34" charset="0"/>
                <a:ea typeface="Inter Light" pitchFamily="34" charset="-122"/>
                <a:cs typeface="Inter Light" pitchFamily="34" charset="-120"/>
              </a:rPr>
              <a:t> palette </a:t>
            </a:r>
            <a:r>
              <a:rPr lang="en-US" sz="850" dirty="0">
                <a:solidFill>
                  <a:srgbClr val="475569"/>
                </a:solidFill>
                <a:latin typeface="Inter Light" pitchFamily="34" charset="0"/>
                <a:ea typeface="Inter Light" pitchFamily="34" charset="-122"/>
                <a:cs typeface="Inter Light" pitchFamily="34" charset="-120"/>
              </a:rPr>
              <a:t>chosen to evoke trust, growth, and </a:t>
            </a:r>
            <a:r>
              <a:rPr lang="en-US" sz="850" dirty="0">
                <a:solidFill>
                  <a:srgbClr val="475569"/>
                </a:solidFill>
                <a:latin typeface="Inter Light" pitchFamily="34" charset="0"/>
                <a:ea typeface="Inter Light" pitchFamily="34" charset="-122"/>
                <a:cs typeface="Inter Light" pitchFamily="34" charset="-120"/>
              </a:rPr>
              <a:t>cleanliness. High-contrast typography </a:t>
            </a:r>
            <a:r>
              <a:rPr lang="en-US" sz="850" dirty="0">
                <a:solidFill>
                  <a:srgbClr val="475569"/>
                </a:solidFill>
                <a:latin typeface="Inter Light" pitchFamily="34" charset="0"/>
                <a:ea typeface="Inter Light" pitchFamily="34" charset="-122"/>
                <a:cs typeface="Inter Light" pitchFamily="34" charset="-120"/>
              </a:rPr>
              <a:t>ensures readability across all devices.</a:t>
            </a:r>
            <a:endParaRPr lang="en-US" sz="850" dirty="0"/>
          </a:p>
        </p:txBody>
      </p:sp>
      <p:sp>
        <p:nvSpPr>
          <p:cNvPr id="7" name="Text 3"/>
          <p:cNvSpPr/>
          <p:nvPr/>
        </p:nvSpPr>
        <p:spPr>
          <a:xfrm>
            <a:off x="3333731" y="1471613"/>
            <a:ext cx="2476509" cy="266105"/>
          </a:xfrm>
          <a:prstGeom prst="rect">
            <a:avLst/>
          </a:prstGeom>
          <a:noFill/>
          <a:ln/>
        </p:spPr>
        <p:txBody>
          <a:bodyPr wrap="square" lIns="0" tIns="0" rIns="0" bIns="0" rtlCol="0" anchor="t">
            <a:spAutoFit/>
          </a:bodyPr>
          <a:lstStyle/>
          <a:p>
            <a:pPr algn="l" indent="0" marL="0">
              <a:buNone/>
            </a:pPr>
            <a:r>
              <a:rPr lang="en-US" sz="1500" dirty="0">
                <a:solidFill>
                  <a:srgbClr val="064E3B"/>
                </a:solidFill>
                <a:latin typeface="Playfair Display Bold" pitchFamily="34" charset="0"/>
                <a:ea typeface="Playfair Display Bold" pitchFamily="34" charset="-122"/>
                <a:cs typeface="Playfair Display Bold" pitchFamily="34" charset="-120"/>
              </a:rPr>
              <a:t>Minimalist UX</a:t>
            </a:r>
            <a:endParaRPr lang="en-US" sz="1500" dirty="0"/>
          </a:p>
        </p:txBody>
      </p:sp>
      <p:sp>
        <p:nvSpPr>
          <p:cNvPr id="8" name="Text 4"/>
          <p:cNvSpPr/>
          <p:nvPr/>
        </p:nvSpPr>
        <p:spPr>
          <a:xfrm>
            <a:off x="3333731" y="1844873"/>
            <a:ext cx="2476509" cy="548590"/>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475569"/>
                </a:solidFill>
                <a:latin typeface="Inter Light" pitchFamily="34" charset="0"/>
                <a:ea typeface="Inter Light" pitchFamily="34" charset="-122"/>
                <a:cs typeface="Inter Light" pitchFamily="34" charset="-120"/>
              </a:rPr>
              <a:t>Focus on </a:t>
            </a:r>
            <a:r>
              <a:rPr lang="en-US" sz="800" dirty="0">
                <a:solidFill>
                  <a:srgbClr val="064E3B"/>
                </a:solidFill>
                <a:latin typeface="Inter SemiBold" pitchFamily="34" charset="0"/>
                <a:ea typeface="Inter SemiBold" pitchFamily="34" charset="-122"/>
                <a:cs typeface="Inter SemiBold" pitchFamily="34" charset="-120"/>
              </a:rPr>
              <a:t>Negative Space</a:t>
            </a:r>
            <a:r>
              <a:rPr lang="en-US" sz="850" dirty="0">
                <a:solidFill>
                  <a:srgbClr val="475569"/>
                </a:solidFill>
                <a:latin typeface="Inter Light" pitchFamily="34" charset="0"/>
                <a:ea typeface="Inter Light" pitchFamily="34" charset="-122"/>
                <a:cs typeface="Inter Light" pitchFamily="34" charset="-120"/>
              </a:rPr>
              <a:t> to reduce cognitive </a:t>
            </a:r>
            <a:r>
              <a:rPr lang="en-US" sz="850" dirty="0">
                <a:solidFill>
                  <a:srgbClr val="475569"/>
                </a:solidFill>
                <a:latin typeface="Inter Light" pitchFamily="34" charset="0"/>
                <a:ea typeface="Inter Light" pitchFamily="34" charset="-122"/>
                <a:cs typeface="Inter Light" pitchFamily="34" charset="-120"/>
              </a:rPr>
              <a:t>load. Intuitive navigation patterns allow users </a:t>
            </a:r>
            <a:r>
              <a:rPr lang="en-US" sz="850" dirty="0">
                <a:solidFill>
                  <a:srgbClr val="475569"/>
                </a:solidFill>
                <a:latin typeface="Inter Light" pitchFamily="34" charset="0"/>
                <a:ea typeface="Inter Light" pitchFamily="34" charset="-122"/>
                <a:cs typeface="Inter Light" pitchFamily="34" charset="-120"/>
              </a:rPr>
              <a:t>to reach any product within three clicks.</a:t>
            </a:r>
            <a:endParaRPr lang="en-US" sz="850" dirty="0"/>
          </a:p>
        </p:txBody>
      </p:sp>
      <p:sp>
        <p:nvSpPr>
          <p:cNvPr id="9" name="Text 5"/>
          <p:cNvSpPr/>
          <p:nvPr/>
        </p:nvSpPr>
        <p:spPr>
          <a:xfrm>
            <a:off x="6095991" y="1471613"/>
            <a:ext cx="2476481" cy="266105"/>
          </a:xfrm>
          <a:prstGeom prst="rect">
            <a:avLst/>
          </a:prstGeom>
          <a:noFill/>
          <a:ln/>
        </p:spPr>
        <p:txBody>
          <a:bodyPr wrap="square" lIns="0" tIns="0" rIns="0" bIns="0" rtlCol="0" anchor="t">
            <a:spAutoFit/>
          </a:bodyPr>
          <a:lstStyle/>
          <a:p>
            <a:pPr algn="l" indent="0" marL="0">
              <a:buNone/>
            </a:pPr>
            <a:r>
              <a:rPr lang="en-US" sz="1500" dirty="0">
                <a:solidFill>
                  <a:srgbClr val="064E3B"/>
                </a:solidFill>
                <a:latin typeface="Playfair Display Bold" pitchFamily="34" charset="0"/>
                <a:ea typeface="Playfair Display Bold" pitchFamily="34" charset="-122"/>
                <a:cs typeface="Playfair Display Bold" pitchFamily="34" charset="-120"/>
              </a:rPr>
              <a:t>Interactive Elements</a:t>
            </a:r>
            <a:endParaRPr lang="en-US" sz="1500" dirty="0"/>
          </a:p>
        </p:txBody>
      </p:sp>
      <p:sp>
        <p:nvSpPr>
          <p:cNvPr id="10" name="Text 6"/>
          <p:cNvSpPr/>
          <p:nvPr/>
        </p:nvSpPr>
        <p:spPr>
          <a:xfrm>
            <a:off x="6095991" y="1844873"/>
            <a:ext cx="2476481" cy="548590"/>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475569"/>
                </a:solidFill>
                <a:latin typeface="Inter Light" pitchFamily="34" charset="0"/>
                <a:ea typeface="Inter Light" pitchFamily="34" charset="-122"/>
                <a:cs typeface="Inter Light" pitchFamily="34" charset="-120"/>
              </a:rPr>
              <a:t>Clean product cards with clear </a:t>
            </a:r>
            <a:r>
              <a:rPr lang="en-US" sz="800" dirty="0">
                <a:solidFill>
                  <a:srgbClr val="064E3B"/>
                </a:solidFill>
                <a:latin typeface="Inter SemiBold" pitchFamily="34" charset="0"/>
                <a:ea typeface="Inter SemiBold" pitchFamily="34" charset="-122"/>
                <a:cs typeface="Inter SemiBold" pitchFamily="34" charset="-120"/>
              </a:rPr>
              <a:t>Call-to-Action</a:t>
            </a:r>
            <a:r>
              <a:rPr lang="en-US" sz="850" dirty="0">
                <a:solidFill>
                  <a:srgbClr val="475569"/>
                </a:solidFill>
                <a:latin typeface="Inter Light" pitchFamily="34" charset="0"/>
                <a:ea typeface="Inter Light" pitchFamily="34" charset="-122"/>
                <a:cs typeface="Inter Light" pitchFamily="34" charset="-120"/>
              </a:rPr>
              <a:t> buttons. Real-time feedback via toast </a:t>
            </a:r>
            <a:r>
              <a:rPr lang="en-US" sz="850" dirty="0">
                <a:solidFill>
                  <a:srgbClr val="475569"/>
                </a:solidFill>
                <a:latin typeface="Inter Light" pitchFamily="34" charset="0"/>
                <a:ea typeface="Inter Light" pitchFamily="34" charset="-122"/>
                <a:cs typeface="Inter Light" pitchFamily="34" charset="-120"/>
              </a:rPr>
              <a:t>notifications for cart and wishlist actions.</a:t>
            </a:r>
            <a:endParaRPr lang="en-US" sz="850" dirty="0"/>
          </a:p>
        </p:txBody>
      </p:sp>
      <p:sp>
        <p:nvSpPr>
          <p:cNvPr id="11" name="Shape 7"/>
          <p:cNvSpPr/>
          <p:nvPr/>
        </p:nvSpPr>
        <p:spPr>
          <a:xfrm>
            <a:off x="0" y="2862076"/>
            <a:ext cx="9144000" cy="2300288"/>
          </a:xfrm>
          <a:prstGeom prst="rect">
            <a:avLst/>
          </a:prstGeom>
          <a:solidFill>
            <a:srgbClr val="A7F3D0">
              <a:alpha val="10000"/>
            </a:srgbClr>
          </a:solidFill>
          <a:ln/>
        </p:spPr>
      </p:sp>
      <p:sp>
        <p:nvSpPr>
          <p:cNvPr id="12" name="Text 8"/>
          <p:cNvSpPr/>
          <p:nvPr/>
        </p:nvSpPr>
        <p:spPr>
          <a:xfrm>
            <a:off x="571500" y="3551281"/>
            <a:ext cx="4414838" cy="266105"/>
          </a:xfrm>
          <a:prstGeom prst="rect">
            <a:avLst/>
          </a:prstGeom>
          <a:noFill/>
          <a:ln/>
        </p:spPr>
        <p:txBody>
          <a:bodyPr wrap="square" lIns="0" tIns="0" rIns="0" bIns="0" rtlCol="0" anchor="t">
            <a:spAutoFit/>
          </a:bodyPr>
          <a:lstStyle/>
          <a:p>
            <a:pPr algn="l" indent="0" marL="0">
              <a:buNone/>
            </a:pPr>
            <a:r>
              <a:rPr lang="en-US" sz="1500" dirty="0">
                <a:solidFill>
                  <a:srgbClr val="064E3B"/>
                </a:solidFill>
                <a:latin typeface="Playfair Display Bold" pitchFamily="34" charset="0"/>
                <a:ea typeface="Playfair Display Bold" pitchFamily="34" charset="-122"/>
                <a:cs typeface="Playfair Display Bold" pitchFamily="34" charset="-120"/>
              </a:rPr>
              <a:t>Modern Design Implementation</a:t>
            </a:r>
            <a:endParaRPr lang="en-US" sz="1500" dirty="0"/>
          </a:p>
        </p:txBody>
      </p:sp>
      <p:sp>
        <p:nvSpPr>
          <p:cNvPr id="13" name="Text 9"/>
          <p:cNvSpPr/>
          <p:nvPr/>
        </p:nvSpPr>
        <p:spPr>
          <a:xfrm>
            <a:off x="571500" y="3924542"/>
            <a:ext cx="4414838" cy="548590"/>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475569"/>
                </a:solidFill>
                <a:latin typeface="Inter Light" pitchFamily="34" charset="0"/>
                <a:ea typeface="Inter Light" pitchFamily="34" charset="-122"/>
                <a:cs typeface="Inter Light" pitchFamily="34" charset="-120"/>
              </a:rPr>
              <a:t>As seen in the Home Page, the UI emphasizes </a:t>
            </a:r>
            <a:r>
              <a:rPr lang="en-US" sz="800" dirty="0">
                <a:solidFill>
                  <a:srgbClr val="064E3B"/>
                </a:solidFill>
                <a:latin typeface="Inter SemiBold" pitchFamily="34" charset="0"/>
                <a:ea typeface="Inter SemiBold" pitchFamily="34" charset="-122"/>
                <a:cs typeface="Inter SemiBold" pitchFamily="34" charset="-120"/>
              </a:rPr>
              <a:t>clarity and ease of navigation</a:t>
            </a:r>
            <a:r>
              <a:rPr lang="en-US" sz="850" dirty="0">
                <a:solidFill>
                  <a:srgbClr val="475569"/>
                </a:solidFill>
                <a:latin typeface="Inter Light" pitchFamily="34" charset="0"/>
                <a:ea typeface="Inter Light" pitchFamily="34" charset="-122"/>
                <a:cs typeface="Inter Light" pitchFamily="34" charset="-120"/>
              </a:rPr>
              <a:t>. The </a:t>
            </a:r>
            <a:r>
              <a:rPr lang="en-US" sz="850" dirty="0">
                <a:solidFill>
                  <a:srgbClr val="475569"/>
                </a:solidFill>
                <a:latin typeface="Inter Light" pitchFamily="34" charset="0"/>
                <a:ea typeface="Inter Light" pitchFamily="34" charset="-122"/>
                <a:cs typeface="Inter Light" pitchFamily="34" charset="-120"/>
              </a:rPr>
              <a:t>layout is structured to highlight popular categories and products while maintaining </a:t>
            </a:r>
            <a:r>
              <a:rPr lang="en-US" sz="850" dirty="0">
                <a:solidFill>
                  <a:srgbClr val="475569"/>
                </a:solidFill>
                <a:latin typeface="Inter Light" pitchFamily="34" charset="0"/>
                <a:ea typeface="Inter Light" pitchFamily="34" charset="-122"/>
                <a:cs typeface="Inter Light" pitchFamily="34" charset="-120"/>
              </a:rPr>
              <a:t>a professional, uncluttered aesthetic.</a:t>
            </a:r>
            <a:endParaRPr lang="en-US" sz="850" dirty="0"/>
          </a:p>
        </p:txBody>
      </p:sp>
      <p:pic>
        <p:nvPicPr>
          <p:cNvPr id="14" name="Image 1" descr="preencoded.png">    </p:cNvPr>
          <p:cNvPicPr>
            <a:picLocks noChangeAspect="1"/>
          </p:cNvPicPr>
          <p:nvPr/>
        </p:nvPicPr>
        <p:blipFill>
          <a:blip r:embed="rId2"/>
          <a:stretch>
            <a:fillRect/>
          </a:stretch>
        </p:blipFill>
        <p:spPr>
          <a:xfrm>
            <a:off x="4993481" y="3012095"/>
            <a:ext cx="3571875" cy="20002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57200"/>
          </a:xfrm>
          <a:prstGeom prst="rect">
            <a:avLst/>
          </a:prstGeom>
          <a:noFill/>
          <a:ln/>
        </p:spPr>
        <p:txBody>
          <a:bodyPr wrap="square" lIns="0" tIns="0" rIns="0" bIns="0" rtlCol="0" anchor="t">
            <a:spAutoFit/>
          </a:bodyPr>
          <a:lstStyle/>
          <a:p>
            <a:pPr algn="l" indent="0" marL="0">
              <a:buNone/>
            </a:pPr>
            <a:r>
              <a:rPr lang="en-US" sz="2450" b="1" dirty="0">
                <a:solidFill>
                  <a:srgbClr val="064E3B"/>
                </a:solidFill>
                <a:latin typeface="Playfair Display Bold" pitchFamily="34" charset="0"/>
                <a:ea typeface="Playfair Display Bold" pitchFamily="34" charset="-122"/>
                <a:cs typeface="Playfair Display Bold" pitchFamily="34" charset="-120"/>
              </a:rPr>
              <a:t>Key Pages &amp; Navigation</a:t>
            </a:r>
            <a:endParaRPr lang="en-US" sz="2450" dirty="0"/>
          </a:p>
        </p:txBody>
      </p:sp>
      <p:pic>
        <p:nvPicPr>
          <p:cNvPr id="5" name="Image 1" descr="preencoded.png">    </p:cNvPr>
          <p:cNvPicPr>
            <a:picLocks noChangeAspect="1"/>
          </p:cNvPicPr>
          <p:nvPr/>
        </p:nvPicPr>
        <p:blipFill>
          <a:blip r:embed="rId2"/>
          <a:stretch>
            <a:fillRect/>
          </a:stretch>
        </p:blipFill>
        <p:spPr>
          <a:xfrm>
            <a:off x="571500" y="1244798"/>
            <a:ext cx="144661" cy="128588"/>
          </a:xfrm>
          <a:prstGeom prst="rect">
            <a:avLst/>
          </a:prstGeom>
        </p:spPr>
      </p:pic>
      <p:sp>
        <p:nvSpPr>
          <p:cNvPr id="6" name="Text 1"/>
          <p:cNvSpPr/>
          <p:nvPr/>
        </p:nvSpPr>
        <p:spPr>
          <a:xfrm>
            <a:off x="801886" y="1214438"/>
            <a:ext cx="1312664" cy="189309"/>
          </a:xfrm>
          <a:prstGeom prst="rect">
            <a:avLst/>
          </a:prstGeom>
          <a:noFill/>
          <a:ln/>
        </p:spPr>
        <p:txBody>
          <a:bodyPr wrap="square" lIns="0" tIns="0" rIns="0" bIns="0" rtlCol="0" anchor="t">
            <a:spAutoFit/>
          </a:bodyPr>
          <a:lstStyle/>
          <a:p>
            <a:pPr algn="l" indent="0" marL="0">
              <a:buNone/>
            </a:pPr>
            <a:r>
              <a:rPr lang="en-US" sz="1100" dirty="0">
                <a:solidFill>
                  <a:srgbClr val="064E3B"/>
                </a:solidFill>
                <a:latin typeface="Inter SemiBold" pitchFamily="34" charset="0"/>
                <a:ea typeface="Inter SemiBold" pitchFamily="34" charset="-122"/>
                <a:cs typeface="Inter SemiBold" pitchFamily="34" charset="-120"/>
              </a:rPr>
              <a:t>Home &amp; Products</a:t>
            </a:r>
            <a:endParaRPr lang="en-US" sz="1100" dirty="0"/>
          </a:p>
        </p:txBody>
      </p:sp>
      <p:sp>
        <p:nvSpPr>
          <p:cNvPr id="7" name="Text 2"/>
          <p:cNvSpPr/>
          <p:nvPr/>
        </p:nvSpPr>
        <p:spPr>
          <a:xfrm>
            <a:off x="571500" y="1460897"/>
            <a:ext cx="3893344"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475569"/>
                </a:solidFill>
                <a:latin typeface="Inter" pitchFamily="34" charset="0"/>
                <a:ea typeface="Inter" pitchFamily="34" charset="-122"/>
                <a:cs typeface="Inter" pitchFamily="34" charset="-120"/>
              </a:rPr>
              <a:t>The central hub featuring a dynamic product grid, category sliders, and real-time search functionality.</a:t>
            </a:r>
            <a:endParaRPr lang="en-US" sz="850" dirty="0"/>
          </a:p>
        </p:txBody>
      </p:sp>
      <p:sp>
        <p:nvSpPr>
          <p:cNvPr id="8" name="Shape 3"/>
          <p:cNvSpPr/>
          <p:nvPr/>
        </p:nvSpPr>
        <p:spPr>
          <a:xfrm>
            <a:off x="571500" y="1852352"/>
            <a:ext cx="3907631" cy="1014413"/>
          </a:xfrm>
          <a:prstGeom prst="rect">
            <a:avLst/>
          </a:prstGeom>
          <a:solidFill>
            <a:srgbClr val="A7F3D0">
              <a:alpha val="10000"/>
            </a:srgbClr>
          </a:solidFill>
          <a:ln w="9144">
            <a:solidFill>
              <a:srgbClr val="A7F3D0"/>
            </a:solidFill>
            <a:prstDash val="solid"/>
          </a:ln>
        </p:spPr>
      </p:sp>
      <p:pic>
        <p:nvPicPr>
          <p:cNvPr id="9" name="Image 2" descr="preencoded.png">    </p:cNvPr>
          <p:cNvPicPr>
            <a:picLocks noChangeAspect="1"/>
          </p:cNvPicPr>
          <p:nvPr/>
        </p:nvPicPr>
        <p:blipFill>
          <a:blip r:embed="rId3"/>
          <a:stretch>
            <a:fillRect/>
          </a:stretch>
        </p:blipFill>
        <p:spPr>
          <a:xfrm>
            <a:off x="571500" y="1852352"/>
            <a:ext cx="3893344" cy="1000125"/>
          </a:xfrm>
          <a:prstGeom prst="rect">
            <a:avLst/>
          </a:prstGeom>
        </p:spPr>
      </p:pic>
      <p:pic>
        <p:nvPicPr>
          <p:cNvPr id="10" name="Image 3" descr="preencoded.png">    </p:cNvPr>
          <p:cNvPicPr>
            <a:picLocks noChangeAspect="1"/>
          </p:cNvPicPr>
          <p:nvPr/>
        </p:nvPicPr>
        <p:blipFill>
          <a:blip r:embed="rId4"/>
          <a:stretch>
            <a:fillRect/>
          </a:stretch>
        </p:blipFill>
        <p:spPr>
          <a:xfrm>
            <a:off x="4679156" y="1244798"/>
            <a:ext cx="128588" cy="128588"/>
          </a:xfrm>
          <a:prstGeom prst="rect">
            <a:avLst/>
          </a:prstGeom>
        </p:spPr>
      </p:pic>
      <p:sp>
        <p:nvSpPr>
          <p:cNvPr id="11" name="Text 4"/>
          <p:cNvSpPr/>
          <p:nvPr/>
        </p:nvSpPr>
        <p:spPr>
          <a:xfrm>
            <a:off x="4893469" y="1214438"/>
            <a:ext cx="1159073" cy="189309"/>
          </a:xfrm>
          <a:prstGeom prst="rect">
            <a:avLst/>
          </a:prstGeom>
          <a:noFill/>
          <a:ln/>
        </p:spPr>
        <p:txBody>
          <a:bodyPr wrap="none" lIns="0" tIns="0" rIns="0" bIns="0" rtlCol="0" anchor="t">
            <a:spAutoFit/>
          </a:bodyPr>
          <a:lstStyle/>
          <a:p>
            <a:pPr algn="l" indent="0" marL="0">
              <a:buNone/>
            </a:pPr>
            <a:r>
              <a:rPr lang="en-US" sz="1100" dirty="0">
                <a:solidFill>
                  <a:srgbClr val="064E3B"/>
                </a:solidFill>
                <a:latin typeface="Inter SemiBold" pitchFamily="34" charset="0"/>
                <a:ea typeface="Inter SemiBold" pitchFamily="34" charset="-122"/>
                <a:cs typeface="Inter SemiBold" pitchFamily="34" charset="-120"/>
              </a:rPr>
              <a:t>Product Details</a:t>
            </a:r>
            <a:endParaRPr lang="en-US" sz="1100" dirty="0"/>
          </a:p>
        </p:txBody>
      </p:sp>
      <p:sp>
        <p:nvSpPr>
          <p:cNvPr id="12" name="Text 5"/>
          <p:cNvSpPr/>
          <p:nvPr/>
        </p:nvSpPr>
        <p:spPr>
          <a:xfrm>
            <a:off x="4679156" y="1460897"/>
            <a:ext cx="3893344"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475569"/>
                </a:solidFill>
                <a:latin typeface="Inter" pitchFamily="34" charset="0"/>
                <a:ea typeface="Inter" pitchFamily="34" charset="-122"/>
                <a:cs typeface="Inter" pitchFamily="34" charset="-120"/>
              </a:rPr>
              <a:t>Comprehensive view with high-resolution images, detailed specifications, and related product suggestions.</a:t>
            </a:r>
            <a:endParaRPr lang="en-US" sz="850" dirty="0"/>
          </a:p>
        </p:txBody>
      </p:sp>
      <p:sp>
        <p:nvSpPr>
          <p:cNvPr id="13" name="Shape 6"/>
          <p:cNvSpPr/>
          <p:nvPr/>
        </p:nvSpPr>
        <p:spPr>
          <a:xfrm>
            <a:off x="4679156" y="1852352"/>
            <a:ext cx="3907631" cy="1014413"/>
          </a:xfrm>
          <a:prstGeom prst="rect">
            <a:avLst/>
          </a:prstGeom>
          <a:solidFill>
            <a:srgbClr val="A7F3D0">
              <a:alpha val="10000"/>
            </a:srgbClr>
          </a:solidFill>
          <a:ln w="9144">
            <a:solidFill>
              <a:srgbClr val="A7F3D0"/>
            </a:solidFill>
            <a:prstDash val="solid"/>
          </a:ln>
        </p:spPr>
      </p:sp>
      <p:pic>
        <p:nvPicPr>
          <p:cNvPr id="14" name="Image 4" descr="preencoded.png">    </p:cNvPr>
          <p:cNvPicPr>
            <a:picLocks noChangeAspect="1"/>
          </p:cNvPicPr>
          <p:nvPr/>
        </p:nvPicPr>
        <p:blipFill>
          <a:blip r:embed="rId5"/>
          <a:stretch>
            <a:fillRect/>
          </a:stretch>
        </p:blipFill>
        <p:spPr>
          <a:xfrm>
            <a:off x="4679156" y="1852352"/>
            <a:ext cx="3893344" cy="1000125"/>
          </a:xfrm>
          <a:prstGeom prst="rect">
            <a:avLst/>
          </a:prstGeom>
        </p:spPr>
      </p:pic>
      <p:pic>
        <p:nvPicPr>
          <p:cNvPr id="15" name="Image 5" descr="preencoded.png">    </p:cNvPr>
          <p:cNvPicPr>
            <a:picLocks noChangeAspect="1"/>
          </p:cNvPicPr>
          <p:nvPr/>
        </p:nvPicPr>
        <p:blipFill>
          <a:blip r:embed="rId6"/>
          <a:stretch>
            <a:fillRect/>
          </a:stretch>
        </p:blipFill>
        <p:spPr>
          <a:xfrm>
            <a:off x="571500" y="3211450"/>
            <a:ext cx="144661" cy="128588"/>
          </a:xfrm>
          <a:prstGeom prst="rect">
            <a:avLst/>
          </a:prstGeom>
        </p:spPr>
      </p:pic>
      <p:sp>
        <p:nvSpPr>
          <p:cNvPr id="16" name="Text 7"/>
          <p:cNvSpPr/>
          <p:nvPr/>
        </p:nvSpPr>
        <p:spPr>
          <a:xfrm>
            <a:off x="801886" y="3181090"/>
            <a:ext cx="1117997" cy="189309"/>
          </a:xfrm>
          <a:prstGeom prst="rect">
            <a:avLst/>
          </a:prstGeom>
          <a:noFill/>
          <a:ln/>
        </p:spPr>
        <p:txBody>
          <a:bodyPr wrap="none" lIns="0" tIns="0" rIns="0" bIns="0" rtlCol="0" anchor="t">
            <a:spAutoFit/>
          </a:bodyPr>
          <a:lstStyle/>
          <a:p>
            <a:pPr algn="l" indent="0" marL="0">
              <a:buNone/>
            </a:pPr>
            <a:r>
              <a:rPr lang="en-US" sz="1100" dirty="0">
                <a:solidFill>
                  <a:srgbClr val="064E3B"/>
                </a:solidFill>
                <a:latin typeface="Inter SemiBold" pitchFamily="34" charset="0"/>
                <a:ea typeface="Inter SemiBold" pitchFamily="34" charset="-122"/>
                <a:cs typeface="Inter SemiBold" pitchFamily="34" charset="-120"/>
              </a:rPr>
              <a:t>Cart &amp; Wishlist</a:t>
            </a:r>
            <a:endParaRPr lang="en-US" sz="1100" dirty="0"/>
          </a:p>
        </p:txBody>
      </p:sp>
      <p:sp>
        <p:nvSpPr>
          <p:cNvPr id="17" name="Text 8"/>
          <p:cNvSpPr/>
          <p:nvPr/>
        </p:nvSpPr>
        <p:spPr>
          <a:xfrm>
            <a:off x="571500" y="3427549"/>
            <a:ext cx="3893344"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475569"/>
                </a:solidFill>
                <a:latin typeface="Inter" pitchFamily="34" charset="0"/>
                <a:ea typeface="Inter" pitchFamily="34" charset="-122"/>
                <a:cs typeface="Inter" pitchFamily="34" charset="-120"/>
              </a:rPr>
              <a:t>Streamlined management of selected items with instant quantity updates and "Save for Later" options.</a:t>
            </a:r>
            <a:endParaRPr lang="en-US" sz="850" dirty="0"/>
          </a:p>
        </p:txBody>
      </p:sp>
      <p:sp>
        <p:nvSpPr>
          <p:cNvPr id="18" name="Shape 9"/>
          <p:cNvSpPr/>
          <p:nvPr/>
        </p:nvSpPr>
        <p:spPr>
          <a:xfrm>
            <a:off x="571500" y="3819004"/>
            <a:ext cx="3907631" cy="1014413"/>
          </a:xfrm>
          <a:prstGeom prst="rect">
            <a:avLst/>
          </a:prstGeom>
          <a:solidFill>
            <a:srgbClr val="A7F3D0">
              <a:alpha val="10000"/>
            </a:srgbClr>
          </a:solidFill>
          <a:ln w="9144">
            <a:solidFill>
              <a:srgbClr val="A7F3D0"/>
            </a:solidFill>
            <a:prstDash val="solid"/>
          </a:ln>
        </p:spPr>
      </p:sp>
      <p:pic>
        <p:nvPicPr>
          <p:cNvPr id="19" name="Image 6" descr="preencoded.png">    </p:cNvPr>
          <p:cNvPicPr>
            <a:picLocks noChangeAspect="1"/>
          </p:cNvPicPr>
          <p:nvPr/>
        </p:nvPicPr>
        <p:blipFill>
          <a:blip r:embed="rId7"/>
          <a:stretch>
            <a:fillRect/>
          </a:stretch>
        </p:blipFill>
        <p:spPr>
          <a:xfrm>
            <a:off x="571500" y="3819004"/>
            <a:ext cx="3893344" cy="1000125"/>
          </a:xfrm>
          <a:prstGeom prst="rect">
            <a:avLst/>
          </a:prstGeom>
        </p:spPr>
      </p:pic>
      <p:pic>
        <p:nvPicPr>
          <p:cNvPr id="20" name="Image 7" descr="preencoded.png">    </p:cNvPr>
          <p:cNvPicPr>
            <a:picLocks noChangeAspect="1"/>
          </p:cNvPicPr>
          <p:nvPr/>
        </p:nvPicPr>
        <p:blipFill>
          <a:blip r:embed="rId8"/>
          <a:stretch>
            <a:fillRect/>
          </a:stretch>
        </p:blipFill>
        <p:spPr>
          <a:xfrm>
            <a:off x="4679156" y="3211450"/>
            <a:ext cx="144661" cy="128588"/>
          </a:xfrm>
          <a:prstGeom prst="rect">
            <a:avLst/>
          </a:prstGeom>
        </p:spPr>
      </p:pic>
      <p:sp>
        <p:nvSpPr>
          <p:cNvPr id="21" name="Text 10"/>
          <p:cNvSpPr/>
          <p:nvPr/>
        </p:nvSpPr>
        <p:spPr>
          <a:xfrm>
            <a:off x="4909542" y="3181090"/>
            <a:ext cx="1303734" cy="189309"/>
          </a:xfrm>
          <a:prstGeom prst="rect">
            <a:avLst/>
          </a:prstGeom>
          <a:noFill/>
          <a:ln/>
        </p:spPr>
        <p:txBody>
          <a:bodyPr wrap="square" lIns="0" tIns="0" rIns="0" bIns="0" rtlCol="0" anchor="t">
            <a:spAutoFit/>
          </a:bodyPr>
          <a:lstStyle/>
          <a:p>
            <a:pPr algn="l" indent="0" marL="0">
              <a:buNone/>
            </a:pPr>
            <a:r>
              <a:rPr lang="en-US" sz="1100" dirty="0">
                <a:solidFill>
                  <a:srgbClr val="064E3B"/>
                </a:solidFill>
                <a:latin typeface="Inter SemiBold" pitchFamily="34" charset="0"/>
                <a:ea typeface="Inter SemiBold" pitchFamily="34" charset="-122"/>
                <a:cs typeface="Inter SemiBold" pitchFamily="34" charset="-120"/>
              </a:rPr>
              <a:t>Secure Checkout</a:t>
            </a:r>
            <a:endParaRPr lang="en-US" sz="1100" dirty="0"/>
          </a:p>
        </p:txBody>
      </p:sp>
      <p:sp>
        <p:nvSpPr>
          <p:cNvPr id="22" name="Text 11"/>
          <p:cNvSpPr/>
          <p:nvPr/>
        </p:nvSpPr>
        <p:spPr>
          <a:xfrm>
            <a:off x="4679156" y="3427549"/>
            <a:ext cx="3893344"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475569"/>
                </a:solidFill>
                <a:latin typeface="Inter" pitchFamily="34" charset="0"/>
                <a:ea typeface="Inter" pitchFamily="34" charset="-122"/>
                <a:cs typeface="Inter" pitchFamily="34" charset="-120"/>
              </a:rPr>
              <a:t>A multi-step, optimized workflow for shipping details and payment processing to ensure high conversion.</a:t>
            </a:r>
            <a:endParaRPr lang="en-US" sz="850" dirty="0"/>
          </a:p>
        </p:txBody>
      </p:sp>
      <p:sp>
        <p:nvSpPr>
          <p:cNvPr id="23" name="Shape 12"/>
          <p:cNvSpPr/>
          <p:nvPr/>
        </p:nvSpPr>
        <p:spPr>
          <a:xfrm>
            <a:off x="4679156" y="3819004"/>
            <a:ext cx="3907631" cy="1014413"/>
          </a:xfrm>
          <a:prstGeom prst="rect">
            <a:avLst/>
          </a:prstGeom>
          <a:solidFill>
            <a:srgbClr val="A7F3D0">
              <a:alpha val="10000"/>
            </a:srgbClr>
          </a:solidFill>
          <a:ln w="9144">
            <a:solidFill>
              <a:srgbClr val="A7F3D0"/>
            </a:solidFill>
            <a:prstDash val="solid"/>
          </a:ln>
        </p:spPr>
      </p:sp>
      <p:pic>
        <p:nvPicPr>
          <p:cNvPr id="24" name="Image 8" descr="preencoded.png">    </p:cNvPr>
          <p:cNvPicPr>
            <a:picLocks noChangeAspect="1"/>
          </p:cNvPicPr>
          <p:nvPr/>
        </p:nvPicPr>
        <p:blipFill>
          <a:blip r:embed="rId9"/>
          <a:stretch>
            <a:fillRect/>
          </a:stretch>
        </p:blipFill>
        <p:spPr>
          <a:xfrm>
            <a:off x="4679156" y="3819004"/>
            <a:ext cx="3893344" cy="10001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57200"/>
          </a:xfrm>
          <a:prstGeom prst="rect">
            <a:avLst/>
          </a:prstGeom>
          <a:noFill/>
          <a:ln/>
        </p:spPr>
        <p:txBody>
          <a:bodyPr wrap="square" lIns="0" tIns="0" rIns="0" bIns="0" rtlCol="0" anchor="t">
            <a:spAutoFit/>
          </a:bodyPr>
          <a:lstStyle/>
          <a:p>
            <a:pPr algn="l" indent="0" marL="0">
              <a:buNone/>
            </a:pPr>
            <a:r>
              <a:rPr lang="en-US" sz="2450" b="1" dirty="0">
                <a:solidFill>
                  <a:srgbClr val="064E3B"/>
                </a:solidFill>
                <a:latin typeface="Playfair Display Bold" pitchFamily="34" charset="0"/>
                <a:ea typeface="Playfair Display Bold" pitchFamily="34" charset="-122"/>
                <a:cs typeface="Playfair Display Bold" pitchFamily="34" charset="-120"/>
              </a:rPr>
              <a:t>Development Challenges &amp; Solutions</a:t>
            </a:r>
            <a:endParaRPr lang="en-US" sz="2450" dirty="0"/>
          </a:p>
        </p:txBody>
      </p:sp>
      <p:sp>
        <p:nvSpPr>
          <p:cNvPr id="5" name="Text 1"/>
          <p:cNvSpPr/>
          <p:nvPr/>
        </p:nvSpPr>
        <p:spPr>
          <a:xfrm>
            <a:off x="571500" y="1171575"/>
            <a:ext cx="3714750" cy="351830"/>
          </a:xfrm>
          <a:prstGeom prst="rect">
            <a:avLst/>
          </a:prstGeom>
          <a:noFill/>
          <a:ln/>
        </p:spPr>
        <p:txBody>
          <a:bodyPr wrap="square" lIns="0" tIns="0" rIns="0" bIns="85090" rtlCol="0" anchor="t">
            <a:spAutoFit/>
          </a:bodyPr>
          <a:lstStyle/>
          <a:p>
            <a:pPr algn="l" indent="0" marL="0">
              <a:buNone/>
            </a:pPr>
            <a:r>
              <a:rPr lang="en-US" sz="1500" dirty="0">
                <a:solidFill>
                  <a:srgbClr val="064E3B"/>
                </a:solidFill>
                <a:latin typeface="Playfair Display Bold" pitchFamily="34" charset="0"/>
                <a:ea typeface="Playfair Display Bold" pitchFamily="34" charset="-122"/>
                <a:cs typeface="Playfair Display Bold" pitchFamily="34" charset="-120"/>
              </a:rPr>
              <a:t>Technical Challenges</a:t>
            </a:r>
            <a:endParaRPr lang="en-US" sz="1500" dirty="0"/>
          </a:p>
        </p:txBody>
      </p:sp>
      <p:pic>
        <p:nvPicPr>
          <p:cNvPr id="6" name="Image 1" descr="preencoded.png">    </p:cNvPr>
          <p:cNvPicPr>
            <a:picLocks noChangeAspect="1"/>
          </p:cNvPicPr>
          <p:nvPr/>
        </p:nvPicPr>
        <p:blipFill>
          <a:blip r:embed="rId2"/>
          <a:stretch>
            <a:fillRect/>
          </a:stretch>
        </p:blipFill>
        <p:spPr>
          <a:xfrm>
            <a:off x="571500" y="1773436"/>
            <a:ext cx="142875" cy="142875"/>
          </a:xfrm>
          <a:prstGeom prst="rect">
            <a:avLst/>
          </a:prstGeom>
        </p:spPr>
      </p:pic>
      <p:sp>
        <p:nvSpPr>
          <p:cNvPr id="7" name="Text 2"/>
          <p:cNvSpPr/>
          <p:nvPr/>
        </p:nvSpPr>
        <p:spPr>
          <a:xfrm>
            <a:off x="821531" y="1737717"/>
            <a:ext cx="3464719"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064E3B"/>
                </a:solidFill>
                <a:latin typeface="Inter SemiBold" pitchFamily="34" charset="0"/>
                <a:ea typeface="Inter SemiBold" pitchFamily="34" charset="-122"/>
                <a:cs typeface="Inter SemiBold" pitchFamily="34" charset="-120"/>
              </a:rPr>
              <a:t>Global State Complexity</a:t>
            </a:r>
            <a:endParaRPr lang="en-US" sz="900" dirty="0"/>
          </a:p>
        </p:txBody>
      </p:sp>
      <p:sp>
        <p:nvSpPr>
          <p:cNvPr id="8" name="Text 3"/>
          <p:cNvSpPr/>
          <p:nvPr/>
        </p:nvSpPr>
        <p:spPr>
          <a:xfrm>
            <a:off x="821531" y="1984177"/>
            <a:ext cx="3382566" cy="155377"/>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475569"/>
                </a:solidFill>
                <a:latin typeface="Inter" pitchFamily="34" charset="0"/>
                <a:ea typeface="Inter" pitchFamily="34" charset="-122"/>
                <a:cs typeface="Inter" pitchFamily="34" charset="-120"/>
              </a:rPr>
              <a:t>Managing shopping cart and user authentication across</a:t>
            </a:r>
            <a:endParaRPr lang="en-US" sz="950" dirty="0"/>
          </a:p>
        </p:txBody>
      </p:sp>
      <p:sp>
        <p:nvSpPr>
          <p:cNvPr id="9" name="Text 4"/>
          <p:cNvSpPr/>
          <p:nvPr/>
        </p:nvSpPr>
        <p:spPr>
          <a:xfrm>
            <a:off x="821531" y="2177058"/>
            <a:ext cx="2932509" cy="155377"/>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475569"/>
                </a:solidFill>
                <a:latin typeface="Inter" pitchFamily="34" charset="0"/>
                <a:ea typeface="Inter" pitchFamily="34" charset="-122"/>
                <a:cs typeface="Inter" pitchFamily="34" charset="-120"/>
              </a:rPr>
              <a:t>deeply nested components without prop drilling.</a:t>
            </a:r>
            <a:endParaRPr lang="en-US" sz="950" dirty="0"/>
          </a:p>
        </p:txBody>
      </p:sp>
      <p:pic>
        <p:nvPicPr>
          <p:cNvPr id="10" name="Image 2" descr="preencoded.png">    </p:cNvPr>
          <p:cNvPicPr>
            <a:picLocks noChangeAspect="1"/>
          </p:cNvPicPr>
          <p:nvPr/>
        </p:nvPicPr>
        <p:blipFill>
          <a:blip r:embed="rId3"/>
          <a:stretch>
            <a:fillRect/>
          </a:stretch>
        </p:blipFill>
        <p:spPr>
          <a:xfrm>
            <a:off x="571500" y="2637830"/>
            <a:ext cx="142875" cy="142875"/>
          </a:xfrm>
          <a:prstGeom prst="rect">
            <a:avLst/>
          </a:prstGeom>
        </p:spPr>
      </p:pic>
      <p:sp>
        <p:nvSpPr>
          <p:cNvPr id="11" name="Text 5"/>
          <p:cNvSpPr/>
          <p:nvPr/>
        </p:nvSpPr>
        <p:spPr>
          <a:xfrm>
            <a:off x="821531" y="2602111"/>
            <a:ext cx="3464719"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064E3B"/>
                </a:solidFill>
                <a:latin typeface="Inter SemiBold" pitchFamily="34" charset="0"/>
                <a:ea typeface="Inter SemiBold" pitchFamily="34" charset="-122"/>
                <a:cs typeface="Inter SemiBold" pitchFamily="34" charset="-120"/>
              </a:rPr>
              <a:t>API Synchronization</a:t>
            </a:r>
            <a:endParaRPr lang="en-US" sz="900" dirty="0"/>
          </a:p>
        </p:txBody>
      </p:sp>
      <p:sp>
        <p:nvSpPr>
          <p:cNvPr id="12" name="Text 6"/>
          <p:cNvSpPr/>
          <p:nvPr/>
        </p:nvSpPr>
        <p:spPr>
          <a:xfrm>
            <a:off x="821531" y="2848570"/>
            <a:ext cx="3223617" cy="155377"/>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475569"/>
                </a:solidFill>
                <a:latin typeface="Inter" pitchFamily="34" charset="0"/>
                <a:ea typeface="Inter" pitchFamily="34" charset="-122"/>
                <a:cs typeface="Inter" pitchFamily="34" charset="-120"/>
              </a:rPr>
              <a:t>Handling asynchronous data fetching, loading states,</a:t>
            </a:r>
            <a:endParaRPr lang="en-US" sz="950" dirty="0"/>
          </a:p>
        </p:txBody>
      </p:sp>
      <p:sp>
        <p:nvSpPr>
          <p:cNvPr id="13" name="Text 7"/>
          <p:cNvSpPr/>
          <p:nvPr/>
        </p:nvSpPr>
        <p:spPr>
          <a:xfrm>
            <a:off x="821531" y="3041452"/>
            <a:ext cx="3245048" cy="155377"/>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475569"/>
                </a:solidFill>
                <a:latin typeface="Inter" pitchFamily="34" charset="0"/>
                <a:ea typeface="Inter" pitchFamily="34" charset="-122"/>
                <a:cs typeface="Inter" pitchFamily="34" charset="-120"/>
              </a:rPr>
              <a:t>and error management for real-time product updates.</a:t>
            </a:r>
            <a:endParaRPr lang="en-US" sz="950" dirty="0"/>
          </a:p>
        </p:txBody>
      </p:sp>
      <p:pic>
        <p:nvPicPr>
          <p:cNvPr id="14" name="Image 3" descr="preencoded.png">    </p:cNvPr>
          <p:cNvPicPr>
            <a:picLocks noChangeAspect="1"/>
          </p:cNvPicPr>
          <p:nvPr/>
        </p:nvPicPr>
        <p:blipFill>
          <a:blip r:embed="rId4"/>
          <a:stretch>
            <a:fillRect/>
          </a:stretch>
        </p:blipFill>
        <p:spPr>
          <a:xfrm>
            <a:off x="571500" y="3502223"/>
            <a:ext cx="142875" cy="142875"/>
          </a:xfrm>
          <a:prstGeom prst="rect">
            <a:avLst/>
          </a:prstGeom>
        </p:spPr>
      </p:pic>
      <p:sp>
        <p:nvSpPr>
          <p:cNvPr id="15" name="Text 8"/>
          <p:cNvSpPr/>
          <p:nvPr/>
        </p:nvSpPr>
        <p:spPr>
          <a:xfrm>
            <a:off x="821531" y="3466505"/>
            <a:ext cx="3464719"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064E3B"/>
                </a:solidFill>
                <a:latin typeface="Inter SemiBold" pitchFamily="34" charset="0"/>
                <a:ea typeface="Inter SemiBold" pitchFamily="34" charset="-122"/>
                <a:cs typeface="Inter SemiBold" pitchFamily="34" charset="-120"/>
              </a:rPr>
              <a:t>Performance Optimization</a:t>
            </a:r>
            <a:endParaRPr lang="en-US" sz="900" dirty="0"/>
          </a:p>
        </p:txBody>
      </p:sp>
      <p:sp>
        <p:nvSpPr>
          <p:cNvPr id="16" name="Text 9"/>
          <p:cNvSpPr/>
          <p:nvPr/>
        </p:nvSpPr>
        <p:spPr>
          <a:xfrm>
            <a:off x="821531" y="3712964"/>
            <a:ext cx="3445073" cy="155377"/>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475569"/>
                </a:solidFill>
                <a:latin typeface="Inter" pitchFamily="34" charset="0"/>
                <a:ea typeface="Inter" pitchFamily="34" charset="-122"/>
                <a:cs typeface="Inter" pitchFamily="34" charset="-120"/>
              </a:rPr>
              <a:t>Ensuring rapid page transitions and efficient rendering in</a:t>
            </a:r>
            <a:endParaRPr lang="en-US" sz="950" dirty="0"/>
          </a:p>
        </p:txBody>
      </p:sp>
      <p:sp>
        <p:nvSpPr>
          <p:cNvPr id="17" name="Text 10"/>
          <p:cNvSpPr/>
          <p:nvPr/>
        </p:nvSpPr>
        <p:spPr>
          <a:xfrm>
            <a:off x="821531" y="3905845"/>
            <a:ext cx="2291358" cy="155377"/>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475569"/>
                </a:solidFill>
                <a:latin typeface="Inter" pitchFamily="34" charset="0"/>
                <a:ea typeface="Inter" pitchFamily="34" charset="-122"/>
                <a:cs typeface="Inter" pitchFamily="34" charset="-120"/>
              </a:rPr>
              <a:t>a data-heavy single-page application.</a:t>
            </a:r>
            <a:endParaRPr lang="en-US" sz="950" dirty="0"/>
          </a:p>
        </p:txBody>
      </p:sp>
      <p:sp>
        <p:nvSpPr>
          <p:cNvPr id="18" name="Text 11"/>
          <p:cNvSpPr/>
          <p:nvPr/>
        </p:nvSpPr>
        <p:spPr>
          <a:xfrm>
            <a:off x="4857750" y="1171575"/>
            <a:ext cx="3714750" cy="351830"/>
          </a:xfrm>
          <a:prstGeom prst="rect">
            <a:avLst/>
          </a:prstGeom>
          <a:noFill/>
          <a:ln/>
        </p:spPr>
        <p:txBody>
          <a:bodyPr wrap="square" lIns="0" tIns="0" rIns="0" bIns="85090" rtlCol="0" anchor="t">
            <a:spAutoFit/>
          </a:bodyPr>
          <a:lstStyle/>
          <a:p>
            <a:pPr algn="l" indent="0" marL="0">
              <a:buNone/>
            </a:pPr>
            <a:r>
              <a:rPr lang="en-US" sz="1500" dirty="0">
                <a:solidFill>
                  <a:srgbClr val="064E3B"/>
                </a:solidFill>
                <a:latin typeface="Playfair Display Bold" pitchFamily="34" charset="0"/>
                <a:ea typeface="Playfair Display Bold" pitchFamily="34" charset="-122"/>
                <a:cs typeface="Playfair Display Bold" pitchFamily="34" charset="-120"/>
              </a:rPr>
              <a:t>Implemented Solutions</a:t>
            </a:r>
            <a:endParaRPr lang="en-US" sz="1500" dirty="0"/>
          </a:p>
        </p:txBody>
      </p:sp>
      <p:pic>
        <p:nvPicPr>
          <p:cNvPr id="19" name="Image 4" descr="preencoded.png">    </p:cNvPr>
          <p:cNvPicPr>
            <a:picLocks noChangeAspect="1"/>
          </p:cNvPicPr>
          <p:nvPr/>
        </p:nvPicPr>
        <p:blipFill>
          <a:blip r:embed="rId5"/>
          <a:stretch>
            <a:fillRect/>
          </a:stretch>
        </p:blipFill>
        <p:spPr>
          <a:xfrm>
            <a:off x="4857750" y="1773436"/>
            <a:ext cx="142875" cy="142875"/>
          </a:xfrm>
          <a:prstGeom prst="rect">
            <a:avLst/>
          </a:prstGeom>
        </p:spPr>
      </p:pic>
      <p:sp>
        <p:nvSpPr>
          <p:cNvPr id="20" name="Text 12"/>
          <p:cNvSpPr/>
          <p:nvPr/>
        </p:nvSpPr>
        <p:spPr>
          <a:xfrm>
            <a:off x="5107781" y="1737717"/>
            <a:ext cx="3464719"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064E3B"/>
                </a:solidFill>
                <a:latin typeface="Inter SemiBold" pitchFamily="34" charset="0"/>
                <a:ea typeface="Inter SemiBold" pitchFamily="34" charset="-122"/>
                <a:cs typeface="Inter SemiBold" pitchFamily="34" charset="-120"/>
              </a:rPr>
              <a:t>React Context API</a:t>
            </a:r>
            <a:endParaRPr lang="en-US" sz="900" dirty="0"/>
          </a:p>
        </p:txBody>
      </p:sp>
      <p:sp>
        <p:nvSpPr>
          <p:cNvPr id="21" name="Text 13"/>
          <p:cNvSpPr/>
          <p:nvPr/>
        </p:nvSpPr>
        <p:spPr>
          <a:xfrm>
            <a:off x="5107781" y="1984177"/>
            <a:ext cx="3364706" cy="155377"/>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475569"/>
                </a:solidFill>
                <a:latin typeface="Inter" pitchFamily="34" charset="0"/>
                <a:ea typeface="Inter" pitchFamily="34" charset="-122"/>
                <a:cs typeface="Inter" pitchFamily="34" charset="-120"/>
              </a:rPr>
              <a:t>Established a "Single Source of Truth" for global states,</a:t>
            </a:r>
            <a:endParaRPr lang="en-US" sz="950" dirty="0"/>
          </a:p>
        </p:txBody>
      </p:sp>
      <p:sp>
        <p:nvSpPr>
          <p:cNvPr id="22" name="Text 14"/>
          <p:cNvSpPr/>
          <p:nvPr/>
        </p:nvSpPr>
        <p:spPr>
          <a:xfrm>
            <a:off x="5107781" y="2177058"/>
            <a:ext cx="2850356" cy="155377"/>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475569"/>
                </a:solidFill>
                <a:latin typeface="Inter" pitchFamily="34" charset="0"/>
                <a:ea typeface="Inter" pitchFamily="34" charset="-122"/>
                <a:cs typeface="Inter" pitchFamily="34" charset="-120"/>
              </a:rPr>
              <a:t>ensuring consistent data across the entire app.</a:t>
            </a:r>
            <a:endParaRPr lang="en-US" sz="950" dirty="0"/>
          </a:p>
        </p:txBody>
      </p:sp>
      <p:pic>
        <p:nvPicPr>
          <p:cNvPr id="23" name="Image 5" descr="preencoded.png">    </p:cNvPr>
          <p:cNvPicPr>
            <a:picLocks noChangeAspect="1"/>
          </p:cNvPicPr>
          <p:nvPr/>
        </p:nvPicPr>
        <p:blipFill>
          <a:blip r:embed="rId6"/>
          <a:stretch>
            <a:fillRect/>
          </a:stretch>
        </p:blipFill>
        <p:spPr>
          <a:xfrm>
            <a:off x="4857750" y="2637830"/>
            <a:ext cx="142875" cy="142875"/>
          </a:xfrm>
          <a:prstGeom prst="rect">
            <a:avLst/>
          </a:prstGeom>
        </p:spPr>
      </p:pic>
      <p:sp>
        <p:nvSpPr>
          <p:cNvPr id="24" name="Text 15"/>
          <p:cNvSpPr/>
          <p:nvPr/>
        </p:nvSpPr>
        <p:spPr>
          <a:xfrm>
            <a:off x="5107781" y="2602111"/>
            <a:ext cx="3464719"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064E3B"/>
                </a:solidFill>
                <a:latin typeface="Inter SemiBold" pitchFamily="34" charset="0"/>
                <a:ea typeface="Inter SemiBold" pitchFamily="34" charset="-122"/>
                <a:cs typeface="Inter SemiBold" pitchFamily="34" charset="-120"/>
              </a:rPr>
              <a:t>Axios &amp; Custom Loaders</a:t>
            </a:r>
            <a:endParaRPr lang="en-US" sz="900" dirty="0"/>
          </a:p>
        </p:txBody>
      </p:sp>
      <p:sp>
        <p:nvSpPr>
          <p:cNvPr id="25" name="Text 16"/>
          <p:cNvSpPr/>
          <p:nvPr/>
        </p:nvSpPr>
        <p:spPr>
          <a:xfrm>
            <a:off x="5107781" y="2848570"/>
            <a:ext cx="3214688" cy="155377"/>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475569"/>
                </a:solidFill>
                <a:latin typeface="Inter" pitchFamily="34" charset="0"/>
                <a:ea typeface="Inter" pitchFamily="34" charset="-122"/>
                <a:cs typeface="Inter" pitchFamily="34" charset="-120"/>
              </a:rPr>
              <a:t>Utilized Axios for robust networking and developed a</a:t>
            </a:r>
            <a:endParaRPr lang="en-US" sz="950" dirty="0"/>
          </a:p>
        </p:txBody>
      </p:sp>
      <p:sp>
        <p:nvSpPr>
          <p:cNvPr id="26" name="Text 17"/>
          <p:cNvSpPr/>
          <p:nvPr/>
        </p:nvSpPr>
        <p:spPr>
          <a:xfrm>
            <a:off x="5107781" y="3041452"/>
            <a:ext cx="2621756" cy="155377"/>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475569"/>
                </a:solidFill>
                <a:latin typeface="Inter" pitchFamily="34" charset="0"/>
                <a:ea typeface="Inter" pitchFamily="34" charset="-122"/>
                <a:cs typeface="Inter" pitchFamily="34" charset="-120"/>
              </a:rPr>
              <a:t>global Loader component for seamless UX.</a:t>
            </a:r>
            <a:endParaRPr lang="en-US" sz="950" dirty="0"/>
          </a:p>
        </p:txBody>
      </p:sp>
      <p:pic>
        <p:nvPicPr>
          <p:cNvPr id="27" name="Image 6" descr="preencoded.png">    </p:cNvPr>
          <p:cNvPicPr>
            <a:picLocks noChangeAspect="1"/>
          </p:cNvPicPr>
          <p:nvPr/>
        </p:nvPicPr>
        <p:blipFill>
          <a:blip r:embed="rId7"/>
          <a:stretch>
            <a:fillRect/>
          </a:stretch>
        </p:blipFill>
        <p:spPr>
          <a:xfrm>
            <a:off x="4857750" y="3502223"/>
            <a:ext cx="142875" cy="142875"/>
          </a:xfrm>
          <a:prstGeom prst="rect">
            <a:avLst/>
          </a:prstGeom>
        </p:spPr>
      </p:pic>
      <p:sp>
        <p:nvSpPr>
          <p:cNvPr id="28" name="Text 18"/>
          <p:cNvSpPr/>
          <p:nvPr/>
        </p:nvSpPr>
        <p:spPr>
          <a:xfrm>
            <a:off x="5107781" y="3466505"/>
            <a:ext cx="3464719"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064E3B"/>
                </a:solidFill>
                <a:latin typeface="Inter SemiBold" pitchFamily="34" charset="0"/>
                <a:ea typeface="Inter SemiBold" pitchFamily="34" charset="-122"/>
                <a:cs typeface="Inter SemiBold" pitchFamily="34" charset="-120"/>
              </a:rPr>
              <a:t>Component Memoization</a:t>
            </a:r>
            <a:endParaRPr lang="en-US" sz="900" dirty="0"/>
          </a:p>
        </p:txBody>
      </p:sp>
      <p:sp>
        <p:nvSpPr>
          <p:cNvPr id="29" name="Text 19"/>
          <p:cNvSpPr/>
          <p:nvPr/>
        </p:nvSpPr>
        <p:spPr>
          <a:xfrm>
            <a:off x="5107781" y="3712964"/>
            <a:ext cx="3280767" cy="155377"/>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475569"/>
                </a:solidFill>
                <a:latin typeface="Inter" pitchFamily="34" charset="0"/>
                <a:ea typeface="Inter" pitchFamily="34" charset="-122"/>
                <a:cs typeface="Inter" pitchFamily="34" charset="-120"/>
              </a:rPr>
              <a:t>Applied React.memo and optimized hooks to minimize</a:t>
            </a:r>
            <a:endParaRPr lang="en-US" sz="950" dirty="0"/>
          </a:p>
        </p:txBody>
      </p:sp>
      <p:sp>
        <p:nvSpPr>
          <p:cNvPr id="30" name="Text 20"/>
          <p:cNvSpPr/>
          <p:nvPr/>
        </p:nvSpPr>
        <p:spPr>
          <a:xfrm>
            <a:off x="5107781" y="3905845"/>
            <a:ext cx="2964656" cy="155377"/>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475569"/>
                </a:solidFill>
                <a:latin typeface="Inter" pitchFamily="34" charset="0"/>
                <a:ea typeface="Inter" pitchFamily="34" charset="-122"/>
                <a:cs typeface="Inter" pitchFamily="34" charset="-120"/>
              </a:rPr>
              <a:t>unnecessary re-renders and boost performance.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57200"/>
          </a:xfrm>
          <a:prstGeom prst="rect">
            <a:avLst/>
          </a:prstGeom>
          <a:noFill/>
          <a:ln/>
        </p:spPr>
        <p:txBody>
          <a:bodyPr wrap="square" lIns="0" tIns="0" rIns="0" bIns="0" rtlCol="0" anchor="t">
            <a:spAutoFit/>
          </a:bodyPr>
          <a:lstStyle/>
          <a:p>
            <a:pPr algn="l" indent="0" marL="0">
              <a:buNone/>
            </a:pPr>
            <a:r>
              <a:rPr lang="en-US" sz="2450" b="1" dirty="0">
                <a:solidFill>
                  <a:srgbClr val="064E3B"/>
                </a:solidFill>
                <a:latin typeface="Playfair Display Bold" pitchFamily="34" charset="0"/>
                <a:ea typeface="Playfair Display Bold" pitchFamily="34" charset="-122"/>
                <a:cs typeface="Playfair Display Bold" pitchFamily="34" charset="-120"/>
              </a:rPr>
              <a:t>Conclusion &amp; Future Roadmap</a:t>
            </a:r>
            <a:endParaRPr lang="en-US" sz="2450" dirty="0"/>
          </a:p>
        </p:txBody>
      </p:sp>
      <p:sp>
        <p:nvSpPr>
          <p:cNvPr id="5" name="Text 1"/>
          <p:cNvSpPr/>
          <p:nvPr/>
        </p:nvSpPr>
        <p:spPr>
          <a:xfrm>
            <a:off x="571500" y="1243013"/>
            <a:ext cx="3571875" cy="303609"/>
          </a:xfrm>
          <a:prstGeom prst="rect">
            <a:avLst/>
          </a:prstGeom>
          <a:noFill/>
          <a:ln/>
        </p:spPr>
        <p:txBody>
          <a:bodyPr wrap="square" lIns="0" tIns="0" rIns="0" bIns="0" rtlCol="0" anchor="t">
            <a:spAutoFit/>
          </a:bodyPr>
          <a:lstStyle/>
          <a:p>
            <a:pPr algn="l" indent="0" marL="0">
              <a:buNone/>
            </a:pPr>
            <a:r>
              <a:rPr lang="en-US" sz="1700" dirty="0">
                <a:solidFill>
                  <a:srgbClr val="064E3B"/>
                </a:solidFill>
                <a:latin typeface="Playfair Display Bold" pitchFamily="34" charset="0"/>
                <a:ea typeface="Playfair Display Bold" pitchFamily="34" charset="-122"/>
                <a:cs typeface="Playfair Display Bold" pitchFamily="34" charset="-120"/>
              </a:rPr>
              <a:t>Project Summary</a:t>
            </a:r>
            <a:endParaRPr lang="en-US" sz="1700" dirty="0"/>
          </a:p>
        </p:txBody>
      </p:sp>
      <p:sp>
        <p:nvSpPr>
          <p:cNvPr id="6" name="Text 2"/>
          <p:cNvSpPr/>
          <p:nvPr/>
        </p:nvSpPr>
        <p:spPr>
          <a:xfrm>
            <a:off x="571500" y="1725216"/>
            <a:ext cx="3571875"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475569"/>
                </a:solidFill>
                <a:latin typeface="Inter" pitchFamily="34" charset="0"/>
                <a:ea typeface="Inter" pitchFamily="34" charset="-122"/>
                <a:cs typeface="Inter" pitchFamily="34" charset="-120"/>
              </a:rPr>
              <a:t>Volt Market successfully demonstrates a </a:t>
            </a:r>
            <a:r>
              <a:rPr lang="en-US" sz="900" b="1" dirty="0">
                <a:solidFill>
                  <a:srgbClr val="475569"/>
                </a:solidFill>
                <a:latin typeface="Inter SemiBold" pitchFamily="34" charset="0"/>
                <a:ea typeface="Inter SemiBold" pitchFamily="34" charset="-122"/>
                <a:cs typeface="Inter SemiBold" pitchFamily="34" charset="-120"/>
              </a:rPr>
              <a:t>robust, scalable, and user-centric</a:t>
            </a:r>
            <a:r>
              <a:rPr lang="en-US" sz="950" dirty="0">
                <a:solidFill>
                  <a:srgbClr val="475569"/>
                </a:solidFill>
                <a:latin typeface="Inter" pitchFamily="34" charset="0"/>
                <a:ea typeface="Inter" pitchFamily="34" charset="-122"/>
                <a:cs typeface="Inter" pitchFamily="34" charset="-120"/>
              </a:rPr>
              <a:t> e-commerce solution built with modern </a:t>
            </a:r>
            <a:r>
              <a:rPr lang="en-US" sz="950" dirty="0">
                <a:solidFill>
                  <a:srgbClr val="475569"/>
                </a:solidFill>
                <a:latin typeface="Inter" pitchFamily="34" charset="0"/>
                <a:ea typeface="Inter" pitchFamily="34" charset="-122"/>
                <a:cs typeface="Inter" pitchFamily="34" charset="-120"/>
              </a:rPr>
              <a:t>React technologies.</a:t>
            </a:r>
            <a:endParaRPr lang="en-US" sz="950" dirty="0"/>
          </a:p>
        </p:txBody>
      </p:sp>
      <p:sp>
        <p:nvSpPr>
          <p:cNvPr id="7" name="Text 3"/>
          <p:cNvSpPr/>
          <p:nvPr/>
        </p:nvSpPr>
        <p:spPr>
          <a:xfrm>
            <a:off x="571500" y="2485244"/>
            <a:ext cx="3571875"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475569"/>
                </a:solidFill>
                <a:latin typeface="Inter" pitchFamily="34" charset="0"/>
                <a:ea typeface="Inter" pitchFamily="34" charset="-122"/>
                <a:cs typeface="Inter" pitchFamily="34" charset="-120"/>
              </a:rPr>
              <a:t>The project achieved its core goals of </a:t>
            </a:r>
            <a:r>
              <a:rPr lang="en-US" sz="900" b="1" dirty="0">
                <a:solidFill>
                  <a:srgbClr val="475569"/>
                </a:solidFill>
                <a:latin typeface="Inter SemiBold" pitchFamily="34" charset="0"/>
                <a:ea typeface="Inter SemiBold" pitchFamily="34" charset="-122"/>
                <a:cs typeface="Inter SemiBold" pitchFamily="34" charset="-120"/>
              </a:rPr>
              <a:t>high performance, mobile responsiveness,</a:t>
            </a:r>
            <a:r>
              <a:rPr lang="en-US" sz="950" dirty="0">
                <a:solidFill>
                  <a:srgbClr val="475569"/>
                </a:solidFill>
                <a:latin typeface="Inter" pitchFamily="34" charset="0"/>
                <a:ea typeface="Inter" pitchFamily="34" charset="-122"/>
                <a:cs typeface="Inter" pitchFamily="34" charset="-120"/>
              </a:rPr>
              <a:t> and seamless data integration.</a:t>
            </a:r>
            <a:endParaRPr lang="en-US" sz="950" dirty="0"/>
          </a:p>
        </p:txBody>
      </p:sp>
      <p:sp>
        <p:nvSpPr>
          <p:cNvPr id="8" name="Shape 4"/>
          <p:cNvSpPr/>
          <p:nvPr/>
        </p:nvSpPr>
        <p:spPr>
          <a:xfrm>
            <a:off x="4214813" y="1243013"/>
            <a:ext cx="4357688" cy="2196703"/>
          </a:xfrm>
          <a:prstGeom prst="rect">
            <a:avLst/>
          </a:prstGeom>
          <a:solidFill>
            <a:srgbClr val="A7F3D0">
              <a:alpha val="15000"/>
            </a:srgbClr>
          </a:solidFill>
          <a:ln/>
        </p:spPr>
      </p:sp>
      <p:sp>
        <p:nvSpPr>
          <p:cNvPr id="9" name="Text 5"/>
          <p:cNvSpPr/>
          <p:nvPr/>
        </p:nvSpPr>
        <p:spPr>
          <a:xfrm>
            <a:off x="4429125" y="1457325"/>
            <a:ext cx="3929063" cy="303609"/>
          </a:xfrm>
          <a:prstGeom prst="rect">
            <a:avLst/>
          </a:prstGeom>
          <a:noFill/>
          <a:ln/>
        </p:spPr>
        <p:txBody>
          <a:bodyPr wrap="square" lIns="0" tIns="0" rIns="0" bIns="0" rtlCol="0" anchor="t">
            <a:spAutoFit/>
          </a:bodyPr>
          <a:lstStyle/>
          <a:p>
            <a:pPr algn="l" indent="0" marL="0">
              <a:buNone/>
            </a:pPr>
            <a:r>
              <a:rPr lang="en-US" sz="1700" dirty="0">
                <a:solidFill>
                  <a:srgbClr val="064E3B"/>
                </a:solidFill>
                <a:latin typeface="Playfair Display Bold" pitchFamily="34" charset="0"/>
                <a:ea typeface="Playfair Display Bold" pitchFamily="34" charset="-122"/>
                <a:cs typeface="Playfair Display Bold" pitchFamily="34" charset="-120"/>
              </a:rPr>
              <a:t>Future Enhancements</a:t>
            </a:r>
            <a:endParaRPr lang="en-US" sz="1700" dirty="0"/>
          </a:p>
        </p:txBody>
      </p:sp>
      <p:pic>
        <p:nvPicPr>
          <p:cNvPr id="10" name="Image 1" descr="preencoded.png">    </p:cNvPr>
          <p:cNvPicPr>
            <a:picLocks noChangeAspect="1"/>
          </p:cNvPicPr>
          <p:nvPr/>
        </p:nvPicPr>
        <p:blipFill>
          <a:blip r:embed="rId2"/>
          <a:stretch>
            <a:fillRect/>
          </a:stretch>
        </p:blipFill>
        <p:spPr>
          <a:xfrm>
            <a:off x="4429125" y="1975247"/>
            <a:ext cx="144661" cy="128588"/>
          </a:xfrm>
          <a:prstGeom prst="rect">
            <a:avLst/>
          </a:prstGeom>
        </p:spPr>
      </p:pic>
      <p:sp>
        <p:nvSpPr>
          <p:cNvPr id="11" name="Text 6"/>
          <p:cNvSpPr/>
          <p:nvPr/>
        </p:nvSpPr>
        <p:spPr>
          <a:xfrm>
            <a:off x="4680942" y="1939528"/>
            <a:ext cx="2582466" cy="155377"/>
          </a:xfrm>
          <a:prstGeom prst="rect">
            <a:avLst/>
          </a:prstGeom>
          <a:noFill/>
          <a:ln/>
        </p:spPr>
        <p:txBody>
          <a:bodyPr wrap="square" lIns="0" tIns="0" rIns="0" bIns="0" rtlCol="0" anchor="t">
            <a:spAutoFit/>
          </a:bodyPr>
          <a:lstStyle/>
          <a:p>
            <a:pPr algn="l" indent="0" marL="0">
              <a:buNone/>
            </a:pPr>
            <a:r>
              <a:rPr lang="en-US" sz="950" dirty="0">
                <a:solidFill>
                  <a:srgbClr val="064E3B"/>
                </a:solidFill>
                <a:latin typeface="Inter" pitchFamily="34" charset="0"/>
                <a:ea typeface="Inter" pitchFamily="34" charset="-122"/>
                <a:cs typeface="Inter" pitchFamily="34" charset="-120"/>
              </a:rPr>
              <a:t>Online Payment Integration (Stripe/PayPal)</a:t>
            </a:r>
            <a:endParaRPr lang="en-US" sz="950" dirty="0"/>
          </a:p>
        </p:txBody>
      </p:sp>
      <p:pic>
        <p:nvPicPr>
          <p:cNvPr id="12" name="Image 2" descr="preencoded.png">    </p:cNvPr>
          <p:cNvPicPr>
            <a:picLocks noChangeAspect="1"/>
          </p:cNvPicPr>
          <p:nvPr/>
        </p:nvPicPr>
        <p:blipFill>
          <a:blip r:embed="rId3"/>
          <a:stretch>
            <a:fillRect/>
          </a:stretch>
        </p:blipFill>
        <p:spPr>
          <a:xfrm>
            <a:off x="4429125" y="2296716"/>
            <a:ext cx="160734" cy="128588"/>
          </a:xfrm>
          <a:prstGeom prst="rect">
            <a:avLst/>
          </a:prstGeom>
        </p:spPr>
      </p:pic>
      <p:sp>
        <p:nvSpPr>
          <p:cNvPr id="13" name="Text 7"/>
          <p:cNvSpPr/>
          <p:nvPr/>
        </p:nvSpPr>
        <p:spPr>
          <a:xfrm>
            <a:off x="4697016" y="2260997"/>
            <a:ext cx="2007394" cy="155377"/>
          </a:xfrm>
          <a:prstGeom prst="rect">
            <a:avLst/>
          </a:prstGeom>
          <a:noFill/>
          <a:ln/>
        </p:spPr>
        <p:txBody>
          <a:bodyPr wrap="square" lIns="0" tIns="0" rIns="0" bIns="0" rtlCol="0" anchor="t">
            <a:spAutoFit/>
          </a:bodyPr>
          <a:lstStyle/>
          <a:p>
            <a:pPr algn="l" indent="0" marL="0">
              <a:buNone/>
            </a:pPr>
            <a:r>
              <a:rPr lang="en-US" sz="950" dirty="0">
                <a:solidFill>
                  <a:srgbClr val="064E3B"/>
                </a:solidFill>
                <a:latin typeface="Inter" pitchFamily="34" charset="0"/>
                <a:ea typeface="Inter" pitchFamily="34" charset="-122"/>
                <a:cs typeface="Inter" pitchFamily="34" charset="-120"/>
              </a:rPr>
              <a:t>Real-time Order Tracking System</a:t>
            </a:r>
            <a:endParaRPr lang="en-US" sz="950" dirty="0"/>
          </a:p>
        </p:txBody>
      </p:sp>
      <p:pic>
        <p:nvPicPr>
          <p:cNvPr id="14" name="Image 3" descr="preencoded.png">    </p:cNvPr>
          <p:cNvPicPr>
            <a:picLocks noChangeAspect="1"/>
          </p:cNvPicPr>
          <p:nvPr/>
        </p:nvPicPr>
        <p:blipFill>
          <a:blip r:embed="rId4"/>
          <a:stretch>
            <a:fillRect/>
          </a:stretch>
        </p:blipFill>
        <p:spPr>
          <a:xfrm>
            <a:off x="4429125" y="2618184"/>
            <a:ext cx="128588" cy="128588"/>
          </a:xfrm>
          <a:prstGeom prst="rect">
            <a:avLst/>
          </a:prstGeom>
        </p:spPr>
      </p:pic>
      <p:sp>
        <p:nvSpPr>
          <p:cNvPr id="15" name="Text 8"/>
          <p:cNvSpPr/>
          <p:nvPr/>
        </p:nvSpPr>
        <p:spPr>
          <a:xfrm>
            <a:off x="4664869" y="2582466"/>
            <a:ext cx="2262783" cy="155377"/>
          </a:xfrm>
          <a:prstGeom prst="rect">
            <a:avLst/>
          </a:prstGeom>
          <a:noFill/>
          <a:ln/>
        </p:spPr>
        <p:txBody>
          <a:bodyPr wrap="square" lIns="0" tIns="0" rIns="0" bIns="0" rtlCol="0" anchor="t">
            <a:spAutoFit/>
          </a:bodyPr>
          <a:lstStyle/>
          <a:p>
            <a:pPr algn="l" indent="0" marL="0">
              <a:buNone/>
            </a:pPr>
            <a:r>
              <a:rPr lang="en-US" sz="950" dirty="0">
                <a:solidFill>
                  <a:srgbClr val="064E3B"/>
                </a:solidFill>
                <a:latin typeface="Inter" pitchFamily="34" charset="0"/>
                <a:ea typeface="Inter" pitchFamily="34" charset="-122"/>
                <a:cs typeface="Inter" pitchFamily="34" charset="-120"/>
              </a:rPr>
              <a:t>AI-Powered Recommendation Engine</a:t>
            </a:r>
            <a:endParaRPr lang="en-US" sz="950" dirty="0"/>
          </a:p>
        </p:txBody>
      </p:sp>
      <p:pic>
        <p:nvPicPr>
          <p:cNvPr id="16" name="Image 4" descr="preencoded.png">    </p:cNvPr>
          <p:cNvPicPr>
            <a:picLocks noChangeAspect="1"/>
          </p:cNvPicPr>
          <p:nvPr/>
        </p:nvPicPr>
        <p:blipFill>
          <a:blip r:embed="rId5"/>
          <a:stretch>
            <a:fillRect/>
          </a:stretch>
        </p:blipFill>
        <p:spPr>
          <a:xfrm>
            <a:off x="4429125" y="2939653"/>
            <a:ext cx="144661" cy="128588"/>
          </a:xfrm>
          <a:prstGeom prst="rect">
            <a:avLst/>
          </a:prstGeom>
        </p:spPr>
      </p:pic>
      <p:sp>
        <p:nvSpPr>
          <p:cNvPr id="17" name="Text 9"/>
          <p:cNvSpPr/>
          <p:nvPr/>
        </p:nvSpPr>
        <p:spPr>
          <a:xfrm>
            <a:off x="4680942" y="2903934"/>
            <a:ext cx="2618184" cy="155377"/>
          </a:xfrm>
          <a:prstGeom prst="rect">
            <a:avLst/>
          </a:prstGeom>
          <a:noFill/>
          <a:ln/>
        </p:spPr>
        <p:txBody>
          <a:bodyPr wrap="square" lIns="0" tIns="0" rIns="0" bIns="0" rtlCol="0" anchor="t">
            <a:spAutoFit/>
          </a:bodyPr>
          <a:lstStyle/>
          <a:p>
            <a:pPr algn="l" indent="0" marL="0">
              <a:buNone/>
            </a:pPr>
            <a:r>
              <a:rPr lang="en-US" sz="950" dirty="0">
                <a:solidFill>
                  <a:srgbClr val="064E3B"/>
                </a:solidFill>
                <a:latin typeface="Inter" pitchFamily="34" charset="0"/>
                <a:ea typeface="Inter" pitchFamily="34" charset="-122"/>
                <a:cs typeface="Inter" pitchFamily="34" charset="-120"/>
              </a:rPr>
              <a:t>Advanced Product Review &amp; Rating System</a:t>
            </a:r>
            <a:endParaRPr lang="en-US" sz="950" dirty="0"/>
          </a:p>
        </p:txBody>
      </p:sp>
      <p:sp>
        <p:nvSpPr>
          <p:cNvPr id="18" name="Text 10"/>
          <p:cNvSpPr/>
          <p:nvPr/>
        </p:nvSpPr>
        <p:spPr>
          <a:xfrm>
            <a:off x="0" y="4229100"/>
            <a:ext cx="9144000" cy="914400"/>
          </a:xfrm>
          <a:prstGeom prst="rect">
            <a:avLst/>
          </a:prstGeom>
          <a:noFill/>
          <a:ln/>
        </p:spPr>
        <p:txBody>
          <a:bodyPr wrap="square" lIns="680339" tIns="340233" rIns="0" bIns="340233" rtlCol="0" anchor="t">
            <a:spAutoFit/>
          </a:bodyPr>
          <a:lstStyle/>
          <a:p>
            <a:pPr algn="l" indent="0" marL="0">
              <a:buNone/>
            </a:pPr>
            <a:r>
              <a:rPr lang="en-US" sz="1900" dirty="0">
                <a:solidFill>
                  <a:srgbClr val="064E3B"/>
                </a:solidFill>
                <a:latin typeface="Playfair Display Bold" pitchFamily="34" charset="0"/>
                <a:ea typeface="Playfair Display Bold" pitchFamily="34" charset="-122"/>
                <a:cs typeface="Playfair Display Bold" pitchFamily="34" charset="-120"/>
              </a:rPr>
              <a:t>Thank You! Any Questions?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2026-06-18T23:44:00Z</dcterms:created>
  <dcterms:modified xsi:type="dcterms:W3CDTF">2026-06-18T23:44:00Z</dcterms:modified>
</cp:coreProperties>
</file>